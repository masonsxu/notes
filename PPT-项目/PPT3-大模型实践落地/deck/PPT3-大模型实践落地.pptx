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 · 实践分享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大模型实践落地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从文字材料到咨询级 PPT 的全流程复现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新人照着一步步做，就能用大模型做出一模一样的效果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201168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受众：想用大模型提效的全员    |    讲师：TD Testing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实战案例：PPT1《入门》+ PPT2《进阶》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直接让大模型"做 PPT"会翻车，工程化方法才能稳定出活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三大翻车痛点 + 七步工程化解法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475488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475488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4498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直接让大模型做 PPT 的三大翻车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414016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9E2B2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140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414016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默认卡片堆叠，缺乏咨询级的层级与密度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255264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B5651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552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不可编辑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325526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文字烘焙成图片，没法改、没法复用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09651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6F727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965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内容失真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409651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编造数据，或把预估当成实测成果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865376"/>
            <a:ext cx="615665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1865376"/>
            <a:ext cx="615665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0136" y="1865376"/>
            <a:ext cx="59006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七步工程化流程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15000" y="2350008"/>
            <a:ext cx="274320" cy="27432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99048" y="2340864"/>
            <a:ext cx="542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证据分析 + 逐页大纲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47588" y="2615184"/>
            <a:ext cx="18288" cy="1005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0" y="2724912"/>
            <a:ext cx="274320" cy="27432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99048" y="2715768"/>
            <a:ext cx="542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8 张样张选风格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47588" y="2990088"/>
            <a:ext cx="18288" cy="1005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0" y="3099816"/>
            <a:ext cx="274320" cy="27432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99048" y="3090672"/>
            <a:ext cx="542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环境核查 + 降级决策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47588" y="3364992"/>
            <a:ext cx="18288" cy="1005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5" name="Shape 33"/>
          <p:cNvSpPr/>
          <p:nvPr/>
        </p:nvSpPr>
        <p:spPr>
          <a:xfrm>
            <a:off x="5715000" y="3474720"/>
            <a:ext cx="274320" cy="27432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99048" y="3465576"/>
            <a:ext cx="542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搭共享视觉模块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47588" y="3739896"/>
            <a:ext cx="18288" cy="1005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3849624"/>
            <a:ext cx="274320" cy="27432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40" name="Text 38"/>
          <p:cNvSpPr/>
          <p:nvPr/>
        </p:nvSpPr>
        <p:spPr>
          <a:xfrm>
            <a:off x="5715000" y="3849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99048" y="3840480"/>
            <a:ext cx="542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3 页风格验证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47588" y="4114800"/>
            <a:ext cx="18288" cy="1005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4224528"/>
            <a:ext cx="274320" cy="27432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44" name="Text 42"/>
          <p:cNvSpPr/>
          <p:nvPr/>
        </p:nvSpPr>
        <p:spPr>
          <a:xfrm>
            <a:off x="571500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099048" y="4215384"/>
            <a:ext cx="542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生产 + 渲染 QA + 自检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7588" y="4489704"/>
            <a:ext cx="18288" cy="1005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7" name="Shape 45"/>
          <p:cNvSpPr/>
          <p:nvPr/>
        </p:nvSpPr>
        <p:spPr>
          <a:xfrm>
            <a:off x="5715000" y="4599432"/>
            <a:ext cx="274320" cy="27432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48" name="Text 46"/>
          <p:cNvSpPr/>
          <p:nvPr/>
        </p:nvSpPr>
        <p:spPr>
          <a:xfrm>
            <a:off x="5715000" y="4599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099048" y="4590288"/>
            <a:ext cx="542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⑦ 方向纠偏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52" name="Text 50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本课目标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把"让大模型做 PPT"从碰运气变成可复现的工程流程 —— 新人照做，效果一致。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来源：本会话实战整理 · 配套 PPT1/PPT2 案例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认知重塑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重新认识大模型：它是"能动手的助理"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三个反常识认知，是用好大模型的前提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3576218" cy="3108960"/>
          </a:xfrm>
          <a:prstGeom prst="roundRect">
            <a:avLst>
              <a:gd name="adj" fmla="val 1765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56816"/>
            <a:ext cx="3576218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" y="2103120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2707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价值在"端到端动手"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734056"/>
            <a:ext cx="32104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不是只会聊天 —— 它能读文件、写代码、生成 PPTX、渲染、自检、迭代，把活真正干完。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197096"/>
            <a:ext cx="3210458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88536"/>
            <a:ext cx="32104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本会话：大模型直接产出 35 页可编辑 PPT + 渲染图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07738" y="1956816"/>
            <a:ext cx="3576218" cy="3108960"/>
          </a:xfrm>
          <a:prstGeom prst="roundRect">
            <a:avLst>
              <a:gd name="adj" fmla="val 1765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7738" y="1956816"/>
            <a:ext cx="3576218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8" name="Shape 16"/>
          <p:cNvSpPr/>
          <p:nvPr/>
        </p:nvSpPr>
        <p:spPr>
          <a:xfrm>
            <a:off x="4472330" y="2103120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9" name="Text 17"/>
          <p:cNvSpPr/>
          <p:nvPr/>
        </p:nvSpPr>
        <p:spPr>
          <a:xfrm>
            <a:off x="447233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39258" y="2103120"/>
            <a:ext cx="2707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环境能力决定方法路径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90618" y="2734056"/>
            <a:ext cx="32104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有没有图像生成、有没有渲染器，直接决定能用哪套流程。动手前先核查。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90618" y="4197096"/>
            <a:ext cx="3210458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3" name="Text 21"/>
          <p:cNvSpPr/>
          <p:nvPr/>
        </p:nvSpPr>
        <p:spPr>
          <a:xfrm>
            <a:off x="4490618" y="4288536"/>
            <a:ext cx="32104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本会话：缺图像生成 → 改用 PptxGenJS + 渲染 QA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12557" y="1956816"/>
            <a:ext cx="3576218" cy="3108960"/>
          </a:xfrm>
          <a:prstGeom prst="roundRect">
            <a:avLst>
              <a:gd name="adj" fmla="val 1765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2557" y="1956816"/>
            <a:ext cx="3576218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6" name="Shape 24"/>
          <p:cNvSpPr/>
          <p:nvPr/>
        </p:nvSpPr>
        <p:spPr>
          <a:xfrm>
            <a:off x="8277149" y="2103120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7" name="Text 25"/>
          <p:cNvSpPr/>
          <p:nvPr/>
        </p:nvSpPr>
        <p:spPr>
          <a:xfrm>
            <a:off x="8277149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44077" y="2103120"/>
            <a:ext cx="2707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降级不等于失败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95437" y="2734056"/>
            <a:ext cx="32104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跳过某一步没关系 —— 关键是如实告知、留痕、用替代方案保证交付。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95437" y="4197096"/>
            <a:ext cx="3210458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1" name="Text 29"/>
          <p:cNvSpPr/>
          <p:nvPr/>
        </p:nvSpPr>
        <p:spPr>
          <a:xfrm>
            <a:off x="8295437" y="4288536"/>
            <a:ext cx="32104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本会话：跳过 ImageGen 蓝图，照样交付高质量 PPT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把大模型当"能动手的助理" —— 它的产出是文件、是结果，不只是回答。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来源：本会话实战教训总结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环境准备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打通渲染链路是第一步 —— 先核查再动手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环境不齐，流程就走不通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94944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94944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6693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必备工具清单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2322576"/>
          <a:ext cx="66568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28163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用途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安装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bun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 PptxGenJS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brew install bun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pptxgenjs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 PPTX（强制）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bun add -g pptxgenjs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LibreOffice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PPTX → PDF 渲染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官网安装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uv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Python 环境管理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astral.sh/uv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python-pptx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结构自检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uv pip install python-pptx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PyMuPDF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PDF → 每页 PNG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uv pip install pymupdf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726680" y="1865376"/>
            <a:ext cx="396209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26680" y="1865376"/>
            <a:ext cx="396209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4" name="Text 11"/>
          <p:cNvSpPr/>
          <p:nvPr/>
        </p:nvSpPr>
        <p:spPr>
          <a:xfrm>
            <a:off x="7854696" y="1865376"/>
            <a:ext cx="37060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渲染链路（必须打通）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09560" y="2414016"/>
            <a:ext cx="3596335" cy="548640"/>
          </a:xfrm>
          <a:prstGeom prst="roundRect">
            <a:avLst>
              <a:gd name="adj" fmla="val 8333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9288" y="2414016"/>
            <a:ext cx="3413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 + pptxgenjs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19288" y="2688336"/>
            <a:ext cx="34134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PPTX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625432" y="2980944"/>
            <a:ext cx="164592" cy="128016"/>
          </a:xfrm>
          <a:prstGeom prst="downArrow">
            <a:avLst/>
          </a:prstGeom>
          <a:solidFill>
            <a:srgbClr val="12355B"/>
          </a:solidFill>
          <a:ln/>
        </p:spPr>
      </p:sp>
      <p:sp>
        <p:nvSpPr>
          <p:cNvPr id="19" name="Shape 16"/>
          <p:cNvSpPr/>
          <p:nvPr/>
        </p:nvSpPr>
        <p:spPr>
          <a:xfrm>
            <a:off x="7909560" y="3127248"/>
            <a:ext cx="3596335" cy="548640"/>
          </a:xfrm>
          <a:prstGeom prst="roundRect">
            <a:avLst>
              <a:gd name="adj" fmla="val 8333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19288" y="3127248"/>
            <a:ext cx="3413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LibreOffice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19288" y="3401568"/>
            <a:ext cx="34134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PPTX → PDF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625432" y="3694176"/>
            <a:ext cx="164592" cy="128016"/>
          </a:xfrm>
          <a:prstGeom prst="downArrow">
            <a:avLst/>
          </a:prstGeom>
          <a:solidFill>
            <a:srgbClr val="12355B"/>
          </a:solidFill>
          <a:ln/>
        </p:spPr>
      </p:sp>
      <p:sp>
        <p:nvSpPr>
          <p:cNvPr id="23" name="Shape 20"/>
          <p:cNvSpPr/>
          <p:nvPr/>
        </p:nvSpPr>
        <p:spPr>
          <a:xfrm>
            <a:off x="7909560" y="3840480"/>
            <a:ext cx="3596335" cy="548640"/>
          </a:xfrm>
          <a:prstGeom prst="roundRect">
            <a:avLst>
              <a:gd name="adj" fmla="val 8333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19288" y="3840480"/>
            <a:ext cx="3413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PyMuPDF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19288" y="4114800"/>
            <a:ext cx="34134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PDF → 每页 PNG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909560" y="4654296"/>
            <a:ext cx="3596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踩坑：LibreOffice 只能直接导首页 PNG；多页必须 PDF→PyMuPDF 切。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9" name="Text 26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环境核查是"动手前"的动作 —— 链路没打通就开工，必然中途卡死。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来源：本会话环境核查实录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七步总览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七步工程化流程，让大模型稳定产出可编辑 PPT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一张图看懂从文字到 PPT 的完整路径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148840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" y="2148840"/>
            <a:ext cx="1891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262432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建证据表、SCR、逐页大纲，第一次确认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198800" y="2546604"/>
            <a:ext cx="109728" cy="146304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45104" y="2002536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1408" y="2148840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3491408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66896" y="2148840"/>
            <a:ext cx="1891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风格选择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09696" y="262432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张样张选风格，锁定视觉系统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040984" y="2546604"/>
            <a:ext cx="109728" cy="146304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7288" y="2002536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3592" y="2148840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2" name="Text 20"/>
          <p:cNvSpPr/>
          <p:nvPr/>
        </p:nvSpPr>
        <p:spPr>
          <a:xfrm>
            <a:off x="6333592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09080" y="2148840"/>
            <a:ext cx="1891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环境核查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1880" y="262432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查工具链，缺则如实降级留痕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 rot="5400000">
            <a:off x="8883167" y="2546604"/>
            <a:ext cx="109728" cy="146304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26" name="Shape 24"/>
          <p:cNvSpPr/>
          <p:nvPr/>
        </p:nvSpPr>
        <p:spPr>
          <a:xfrm>
            <a:off x="9029471" y="2002536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75775" y="2148840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8" name="Text 26"/>
          <p:cNvSpPr/>
          <p:nvPr/>
        </p:nvSpPr>
        <p:spPr>
          <a:xfrm>
            <a:off x="9175775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51263" y="2148840"/>
            <a:ext cx="1891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搭模块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94063" y="262432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把风格固化成共享视觉模块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3511296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" y="3657600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24712" y="3657600"/>
            <a:ext cx="1891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页验证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" y="413308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先验证视觉执行，再批量生产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 rot="5400000">
            <a:off x="3198800" y="4055364"/>
            <a:ext cx="109728" cy="146304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37" name="Shape 35"/>
          <p:cNvSpPr/>
          <p:nvPr/>
        </p:nvSpPr>
        <p:spPr>
          <a:xfrm>
            <a:off x="3345104" y="3511296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91408" y="3657600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9" name="Text 37"/>
          <p:cNvSpPr/>
          <p:nvPr/>
        </p:nvSpPr>
        <p:spPr>
          <a:xfrm>
            <a:off x="3491408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966896" y="3657600"/>
            <a:ext cx="1891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 QA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09696" y="413308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PptxGenJS 搭建 + 渲染 + 结构自检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 rot="5400000">
            <a:off x="6040984" y="4055364"/>
            <a:ext cx="109728" cy="146304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43" name="Shape 41"/>
          <p:cNvSpPr/>
          <p:nvPr/>
        </p:nvSpPr>
        <p:spPr>
          <a:xfrm>
            <a:off x="6187288" y="3511296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33592" y="3657600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45" name="Text 43"/>
          <p:cNvSpPr/>
          <p:nvPr/>
        </p:nvSpPr>
        <p:spPr>
          <a:xfrm>
            <a:off x="6333592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09080" y="3657600"/>
            <a:ext cx="1891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方向纠偏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51880" y="4133088"/>
            <a:ext cx="233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意图错了果断重写，不修补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267683" y="325526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51" name="Text 49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七步是"防翻车"流程 —— 每一步都有确认门或自检，把不确定性逐步消除。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来源：本会话七步工作流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步骤① 分析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别急着画 —— 先建证据表、写 SCR、定逐页大纲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内容真实 + 论证清晰，是咨询级 PPT 的地基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94360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94360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687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证据表样本（每条事实都标来源）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2322576"/>
          <a:ext cx="56509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651760"/>
                <a:gridCol w="822960"/>
                <a:gridCol w="15361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ID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论点/数据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置信度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E02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Flash 覆盖日常 80% 场景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§1.1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高（建议比例）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E04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高阶模型约公网 5×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§1.1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E07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AGENTS.md 月省 ~30 万 Token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§2.3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高（推算）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9224" y="4059936"/>
            <a:ext cx="5650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纪律：不用常识补数据；冲突如实标注；数字标置信度。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9224" y="4562856"/>
            <a:ext cx="5650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收敛成 SCR（Situation-Complication-Resolution）+ 逐页大纲（每页含信息密度与组件清单）。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20840" y="1865376"/>
            <a:ext cx="4967935" cy="3200400"/>
          </a:xfrm>
          <a:prstGeom prst="roundRect">
            <a:avLst>
              <a:gd name="adj" fmla="val 1714"/>
            </a:avLst>
          </a:prstGeom>
          <a:solidFill>
            <a:srgbClr val="EAF0F6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1993392"/>
            <a:ext cx="4602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🚪 第一次确认门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03720" y="2414016"/>
            <a:ext cx="460217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必须一次性确认：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故事线（2-3 条选 1）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页数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逐页论点与结论标题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每页信息密度与组件清单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开放数据冲突与 caveat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03720" y="4517136"/>
            <a:ext cx="4602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不能只在"页标题"层面确认 —— 那样后面必返工。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0" name="Text 17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证据表保证内容真实，确认门保证方向对齐 —— 地基稳了，后面的生产才不会塌。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来源：步骤① 实战（本会话第一阶段）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步骤② 风格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张样张直接选，锁定视觉系统再动手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风格不是"配色"，是色板+网格+层级+图表语言的整套系统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67512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6751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6419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种固定风格（直接发图选）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368296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CFBF5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368296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经典深红咨询风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94760" y="2368296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CFBF5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2368296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冷灰+勃艮第红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935224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CFBF5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935224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暖象牙+暗酒红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2935224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4488" y="2935224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象牙白+深蓝 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502152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CFBF5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502152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浅灰白+墨绿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3502152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CFBF5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04488" y="3502152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纸张米色+铜棕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0690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CFBF5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069080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浅灰+黑金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94760" y="40690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CFBF5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04488" y="4069080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冷白灰+深紫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1865376"/>
            <a:ext cx="423641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1865376"/>
            <a:ext cx="42364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9" name="Text 27"/>
          <p:cNvSpPr/>
          <p:nvPr/>
        </p:nvSpPr>
        <p:spPr>
          <a:xfrm>
            <a:off x="7580376" y="1865376"/>
            <a:ext cx="39803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选定：风格4 象牙白+深蓝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98664" y="2322576"/>
            <a:ext cx="3943807" cy="100584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2432304"/>
            <a:ext cx="3687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#12355B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26680" y="2885846"/>
            <a:ext cx="3687775" cy="321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深蓝强调色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26680" y="3090672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专为科技/AI 设计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598664" y="3465576"/>
            <a:ext cx="39438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锁定项：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98664" y="3739896"/>
            <a:ext cx="394380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完整色板（底/标题/正文/线条/强调）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15 级 Typography Scale（C0 + T1-T14）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字体（中文苹方 / 代码 Menlo）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页眉页脚 / SO WHAT / 图表语言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一套视觉系统贯穿全系列 —— PPT1/PPT2/PPT3 共用风格4，品牌统一不漂移。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来源：步骤② 风格选择（cyber-ppt 8 风格）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步骤③ 核查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环境缺图像生成？如实降级，留痕继续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本会话的关键转折点 —— 不假装满足硬门槛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6ECD8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751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🔍 核查发现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无图像生成（ImageGen）能力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无法生成逐页位图蓝图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865376"/>
            <a:ext cx="5608015" cy="1417320"/>
          </a:xfrm>
          <a:prstGeom prst="roundRect">
            <a:avLst>
              <a:gd name="adj" fmla="val 3871"/>
            </a:avLst>
          </a:prstGeom>
          <a:solidFill>
            <a:srgbClr val="EAF0F6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75104"/>
            <a:ext cx="5242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降级方案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52422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跳过 ImageGen 蓝图（留痕 imagegen_skipped），改用 PptxGenJS 原生生产 + LibreOffice 渲染 QA。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65576"/>
            <a:ext cx="11185855" cy="16002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65576"/>
            <a:ext cx="1118585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3465576"/>
            <a:ext cx="109298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降级三原则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968496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68496"/>
            <a:ext cx="3119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如实告知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4315968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明确说哪道门无法满足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07738" y="3968496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2" name="Text 20"/>
          <p:cNvSpPr/>
          <p:nvPr/>
        </p:nvSpPr>
        <p:spPr>
          <a:xfrm>
            <a:off x="4307738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938" y="3968496"/>
            <a:ext cx="3119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给可选方案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64938" y="4315968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降级生产 / B 换环境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29677" y="3968496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6" name="Text 24"/>
          <p:cNvSpPr/>
          <p:nvPr/>
        </p:nvSpPr>
        <p:spPr>
          <a:xfrm>
            <a:off x="7929677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86877" y="3968496"/>
            <a:ext cx="3119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留痕继续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86877" y="4315968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记录跳过原因与依据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环境限制不是死局 —— 关键是不假装、留痕迹、用替代方案把活交付。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来源：步骤③ 环境核查实录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步骤④ 模块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把风格固化成模块，多份 PPT 共用一套系统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theme.js —— 改一处，全套跟着变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76072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7607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504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theme.js 包含什么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368296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682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色板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3682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bg / paper / title / body / accent / warn / pos…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2990088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900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Typography 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29900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级（C0 封面 + T1-T14），字号写死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11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3611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中文苹方 PingFang SC / 代码 Menlo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" y="423367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33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元素函数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42336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addTitle / addFooter / addSoWhat / addKPI…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37960" y="1865376"/>
            <a:ext cx="515081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1865376"/>
            <a:ext cx="51508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65976" y="1865376"/>
            <a:ext cx="48947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统一观感靠函数复用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84264" y="2322576"/>
            <a:ext cx="4858207" cy="219456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2322576"/>
            <a:ext cx="4583887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每页都这样搭，风格绝不漂移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addBase(s, {section, num});        // 徽章+页脚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cy = addTitle(s, 标题, 副标题);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addPanel(s, x, y, w, h, 标题);     // 面板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addKPI(s, x, y, w, h, 大数字, 标签);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addTable(s, rows, {...});           // 统一表头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addSoWhat(s, 标签, 正文);          // 底栏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84264" y="4608576"/>
            <a:ext cx="48582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两份 PPT 共用 theme.js → 品牌天然统一。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模块化是"可复现"的关键 —— 风格写进代码，不靠手调，新人调用即统一。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来源：步骤④ theme.js 设计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步骤⑤ 验证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 3 页样张验证，再批量生产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小步验证视觉执行，避免 35 页返工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2727884" cy="1005840"/>
          </a:xfrm>
          <a:prstGeom prst="roundRect">
            <a:avLst>
              <a:gd name="adj" fmla="val 4545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139696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39696"/>
            <a:ext cx="20878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 3 页代表性样张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3239948" y="2414016"/>
            <a:ext cx="73152" cy="146304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22244" y="2002536"/>
            <a:ext cx="2727884" cy="1005840"/>
          </a:xfrm>
          <a:prstGeom prst="roundRect">
            <a:avLst>
              <a:gd name="adj" fmla="val 4545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8548" y="2139696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3468548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0884" y="2139696"/>
            <a:ext cx="20878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渲染每页 PNG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59272" y="2414016"/>
            <a:ext cx="73152" cy="146304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1568" y="2002536"/>
            <a:ext cx="2727884" cy="1005840"/>
          </a:xfrm>
          <a:prstGeom prst="roundRect">
            <a:avLst>
              <a:gd name="adj" fmla="val 4545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7872" y="2139696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6287872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90208" y="2139696"/>
            <a:ext cx="20878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人审视觉执行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8878595" y="2414016"/>
            <a:ext cx="73152" cy="146304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0891" y="2002536"/>
            <a:ext cx="2727884" cy="1005840"/>
          </a:xfrm>
          <a:prstGeom prst="roundRect">
            <a:avLst>
              <a:gd name="adj" fmla="val 4545"/>
            </a:avLst>
          </a:prstGeom>
          <a:solidFill>
            <a:srgbClr val="12355B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07195" y="213969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07195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9531" y="2139696"/>
            <a:ext cx="20878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 → 批量生产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236976"/>
            <a:ext cx="5455768" cy="18288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2369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" y="32369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页样张代表什么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67512" y="3694176"/>
            <a:ext cx="51357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封面页：C0 大标题 + 字体 + 留白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内容页：KPI + 卡片 + SO WHAT 密度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表格页：表头 + 代码块样式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33008" y="3236976"/>
            <a:ext cx="5455768" cy="1828800"/>
          </a:xfrm>
          <a:prstGeom prst="roundRect">
            <a:avLst>
              <a:gd name="adj" fmla="val 3000"/>
            </a:avLst>
          </a:prstGeom>
          <a:solidFill>
            <a:srgbClr val="F6ECD8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5888" y="3346704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不验证直接量产的代价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15888" y="3675888"/>
            <a:ext cx="50900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本会话 PPT1 的 P7 连线遮挡、PPT2 的方向错误，都是"做出来才发现" —— 如果先验证，能更早暴露。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页验证是"风险闸门" —— 用最小成本确认视觉执行，再放心量产。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来源：步骤⑤ 风格验证实战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步骤⑥ 生产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PptxGenJS 原生搭建 + 渲染 QA + 结构自检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生产循环：生成 → 渲染 → 自检 → 人审 → 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21792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2179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961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生产循环（每份 PPT 都走一遍）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432304"/>
            <a:ext cx="347472" cy="347472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32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" y="241401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 run build-x.js → 生成 PPTX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4964" y="2779776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999232"/>
            <a:ext cx="347472" cy="347472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298094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bash render.sh → 每页 PNG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4964" y="3346704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566160"/>
            <a:ext cx="347472" cy="347472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" y="354787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python 结构自检 → 零尺寸/越界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4964" y="3913632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133088"/>
            <a:ext cx="347472" cy="347472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61288" y="41148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渲染图发人审 → 有问题就修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7457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 原生对象（文本/形状/表格），0 图片 → 完全可编辑。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995160" y="1865376"/>
            <a:ext cx="469361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95160" y="1865376"/>
            <a:ext cx="46936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9" name="Text 27"/>
          <p:cNvSpPr/>
          <p:nvPr/>
        </p:nvSpPr>
        <p:spPr>
          <a:xfrm>
            <a:off x="7123176" y="1865376"/>
            <a:ext cx="44375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结构自检脚本（复现必备）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41464" y="2322576"/>
            <a:ext cx="4401007" cy="2286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31" name="Text 29"/>
          <p:cNvSpPr/>
          <p:nvPr/>
        </p:nvSpPr>
        <p:spPr>
          <a:xfrm>
            <a:off x="7287768" y="2322576"/>
            <a:ext cx="4126687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pptx import Presentation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prs = Presentation("xxx.pptx")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W,H = prs.slide_width/914400, prs.slide_height/914400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i,sl in enumerate(prs.slides,1):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for sh in sl.shapes: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l,t,w,h = (sh.left/914400, sh.top/914400,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sh.width/914400, sh.height/914400)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w&lt;=0 or h&lt;=0: print(f"P{i} 零尺寸")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l+w&gt;W+0.05: print(f"P{i} 右越界")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t+h&gt;H+0.05: print(f"P{i} 下越界")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41464" y="4700016"/>
            <a:ext cx="44010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用脚本查，不靠肉眼 —— 又快又准。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生产不是"生成完就交" —— 渲染 + 自检 + 人审三道关，才能保证每页都合格。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来源：步骤⑥ 生产循环实战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步骤⑦ 纠偏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发现意图理解错，果断重写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本会话最重要的教训 —— PPT2 从"成本"到"用好"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11185855" cy="868680"/>
          </a:xfrm>
          <a:prstGeom prst="roundRect">
            <a:avLst>
              <a:gd name="adj" fmla="val 5263"/>
            </a:avLst>
          </a:prstGeom>
          <a:solidFill>
            <a:srgbClr val="F6ECD8"/>
          </a:solidFill>
          <a:ln w="9525">
            <a:solidFill>
              <a:srgbClr val="B565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56816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PPT2 第一版：按源材料标题做"成本优化"（5×成本、降本法则、Token KPI） → 用户反馈：成本不是我要操心的，我要让团队更好地使用 → 立即重写为"用好大模型 + 团队落地"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916936"/>
            <a:ext cx="3576218" cy="1920240"/>
          </a:xfrm>
          <a:prstGeom prst="roundRect">
            <a:avLst>
              <a:gd name="adj" fmla="val 2857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3072384"/>
            <a:ext cx="420624" cy="42062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072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9576" y="307238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源材料标题 ≠ 真实意图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648456"/>
            <a:ext cx="32104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材料叫"成本优化"，但用户要"用好" —— 要挖到真实目的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07738" y="2916936"/>
            <a:ext cx="3576218" cy="1920240"/>
          </a:xfrm>
          <a:prstGeom prst="roundRect">
            <a:avLst>
              <a:gd name="adj" fmla="val 2857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2330" y="3072384"/>
            <a:ext cx="420624" cy="42062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7" name="Text 15"/>
          <p:cNvSpPr/>
          <p:nvPr/>
        </p:nvSpPr>
        <p:spPr>
          <a:xfrm>
            <a:off x="4472330" y="3072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4394" y="307238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重写前先确认新结构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90618" y="3648456"/>
            <a:ext cx="32104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已经错过一次，新方向必须再确认，避免二次跑偏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12557" y="2916936"/>
            <a:ext cx="3576218" cy="1920240"/>
          </a:xfrm>
          <a:prstGeom prst="roundRect">
            <a:avLst>
              <a:gd name="adj" fmla="val 2857"/>
            </a:avLst>
          </a:prstGeom>
          <a:solidFill>
            <a:srgbClr val="FCFBF5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7149" y="3072384"/>
            <a:ext cx="420624" cy="42062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2" name="Text 20"/>
          <p:cNvSpPr/>
          <p:nvPr/>
        </p:nvSpPr>
        <p:spPr>
          <a:xfrm>
            <a:off x="8277149" y="3072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89213" y="307238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不在错误方向上修补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95437" y="3648456"/>
            <a:ext cx="32104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方向错就推翻重来，别在小修小补上浪费时间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方向纠偏不是失败，而是流程的一部分 —— 早发现、早重写，比硬撑到底省得多。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来源：步骤⑦ PPT2 重写实录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六条核心实践，让大模型协作又稳又快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把本会话的教训提炼成可复用的方法论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15798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52728" y="2157984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证据表先行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752344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每个事实标来源，不臆造、不用常识补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7738" y="1975104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2330" y="215798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4472330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57546" y="2157984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确认门要重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0618" y="2752344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故事线/页数/论点/密度一次确认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2557" y="1975104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7149" y="215798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7149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2365" y="2157984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先验证再量产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95437" y="2752344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页样张确认视觉，再批量生产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621024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380390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52728" y="3803904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结构自检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398264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脚本查零尺寸/越界，不靠肉眼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07738" y="3621024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72330" y="380390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0" name="Text 28"/>
          <p:cNvSpPr/>
          <p:nvPr/>
        </p:nvSpPr>
        <p:spPr>
          <a:xfrm>
            <a:off x="447233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57546" y="3803904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局限要诚实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90618" y="4398264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无法读图交人审；缺能力就降级留痕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12557" y="3621024"/>
            <a:ext cx="357621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7149" y="380390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5" name="Text 33"/>
          <p:cNvSpPr/>
          <p:nvPr/>
        </p:nvSpPr>
        <p:spPr>
          <a:xfrm>
            <a:off x="8277149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2365" y="3803904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错了果断重写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95437" y="4398264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意图错就推翻重来，不修补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0" name="Text 38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六条方法论是"防翻车护栏" —— 每一条都来自本会话的真实教训。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来源：六条核心实践总结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避坑指南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七个坑及解法 —— 别再踩一次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本会话踩过的坑，都在这里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75104"/>
          <a:ext cx="1118585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542513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坑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现象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解法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意图理解错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PPT2 做成成本优化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重写前确认新结构；标题≠意图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z-order 遮挡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连线盖住中心节点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先画线（底层）再画节点（上层）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零尺寸告警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垂直线 w:0 触发自检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 w:0.02 细矩形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看不到逐页渲染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LibreOffice 只导首页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装 PyMuPDF，PDF→每页 PNG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缺图像生成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无法做 ImageGen 蓝图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如实降级：原生生产+渲染QA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无法读图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模型不支持图像输入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渲染图发人审；AI 负责结构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效果数据失真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把预估%当实测成果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标"预估/待实测"或用可观察信号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1" name="Text 8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踩坑不可怕 —— 记下来、有解法，新人就能直接绕过。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来源：本会话踩坑实录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复现指南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照这 6 阶段做，新手也能复现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从准备到交付，勾选式推进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3576218" cy="1536192"/>
          </a:xfrm>
          <a:prstGeom prst="roundRect">
            <a:avLst>
              <a:gd name="adj" fmla="val 35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75104"/>
            <a:ext cx="3576218" cy="3291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1975104"/>
            <a:ext cx="32836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准备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" y="2377440"/>
            <a:ext cx="328361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装 bun/pptxgenjs/LibreOffice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装 uv/python-pptx/PyMuPDF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跑环境核查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准备文字源材料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07738" y="1975104"/>
            <a:ext cx="3576218" cy="1536192"/>
          </a:xfrm>
          <a:prstGeom prst="roundRect">
            <a:avLst>
              <a:gd name="adj" fmla="val 35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1975104"/>
            <a:ext cx="3576218" cy="3291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4" name="Text 12"/>
          <p:cNvSpPr/>
          <p:nvPr/>
        </p:nvSpPr>
        <p:spPr>
          <a:xfrm>
            <a:off x="4454042" y="1975104"/>
            <a:ext cx="32836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分析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54042" y="2377440"/>
            <a:ext cx="328361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建证据表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脑暴故事线选 1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写 SCR + 逐页大纲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确认门拍板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12557" y="1975104"/>
            <a:ext cx="3576218" cy="1536192"/>
          </a:xfrm>
          <a:prstGeom prst="roundRect">
            <a:avLst>
              <a:gd name="adj" fmla="val 35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2557" y="1975104"/>
            <a:ext cx="3576218" cy="3291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8258861" y="1975104"/>
            <a:ext cx="32836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· 定风格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58861" y="2377440"/>
            <a:ext cx="328361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展示 8 张样张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选定风格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锁定色板/字体/图标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739896"/>
            <a:ext cx="3576218" cy="1536192"/>
          </a:xfrm>
          <a:prstGeom prst="roundRect">
            <a:avLst>
              <a:gd name="adj" fmla="val 35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39896"/>
            <a:ext cx="3576218" cy="3291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" y="3739896"/>
            <a:ext cx="32836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 · 模块+验证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" y="4142232"/>
            <a:ext cx="328361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写共享视觉模块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做 3 页样张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渲染确认视觉执行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07738" y="3739896"/>
            <a:ext cx="3576218" cy="1536192"/>
          </a:xfrm>
          <a:prstGeom prst="roundRect">
            <a:avLst>
              <a:gd name="adj" fmla="val 35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7738" y="3739896"/>
            <a:ext cx="3576218" cy="3291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6" name="Text 24"/>
          <p:cNvSpPr/>
          <p:nvPr/>
        </p:nvSpPr>
        <p:spPr>
          <a:xfrm>
            <a:off x="4454042" y="3739896"/>
            <a:ext cx="32836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 · 生产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54042" y="4142232"/>
            <a:ext cx="328361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逐页 PptxGenJS 搭建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渲染 + 结构自检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人审逐页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定稿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112557" y="3739896"/>
            <a:ext cx="3576218" cy="1536192"/>
          </a:xfrm>
          <a:prstGeom prst="roundRect">
            <a:avLst>
              <a:gd name="adj" fmla="val 35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2557" y="3739896"/>
            <a:ext cx="3576218" cy="32918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0" name="Text 28"/>
          <p:cNvSpPr/>
          <p:nvPr/>
        </p:nvSpPr>
        <p:spPr>
          <a:xfrm>
            <a:off x="8258861" y="3739896"/>
            <a:ext cx="32836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 · 校准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58861" y="4142232"/>
            <a:ext cx="328361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方向不对→确认新结构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果断重写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☐ 删旧版避免混淆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Checklist 把"经验"变成"步骤" —— 新人照着勾，就能走完全程。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来源：新人复现 6 阶段 Checklist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实战成果：两份可编辑咨询级 PPT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同一套流程、同一套风格，产出系列化交付物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103120"/>
          </a:xfrm>
          <a:prstGeom prst="roundRect">
            <a:avLst>
              <a:gd name="adj" fmla="val 2609"/>
            </a:avLst>
          </a:prstGeom>
          <a:solidFill>
            <a:srgbClr val="FCFBF5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73152" cy="21031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993392"/>
            <a:ext cx="509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PPT1《公司大模型工具使用入门》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" y="2377440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页 · 面向新人 · 手把手教学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" y="2734056"/>
            <a:ext cx="50900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封面 / 模型一览 / 权限安装 / 核心概念 / Plan-Build / 六大场景 / 6 个 Demo / AGENTS.md / Skill / 安全 / FAQ / Checklist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103120"/>
          </a:xfrm>
          <a:prstGeom prst="roundRect">
            <a:avLst>
              <a:gd name="adj" fmla="val 2609"/>
            </a:avLst>
          </a:prstGeom>
          <a:solidFill>
            <a:srgbClr val="FCFBF5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73152" cy="21031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6452464" y="1993392"/>
            <a:ext cx="509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PPT2《用好大模型：进阶应用与团队落地》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52464" y="2377440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页 · 面向 TL/资深 · 团队赋能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52464" y="2734056"/>
            <a:ext cx="50900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五板斧(选型/AGENTS.md/Prompt/工作流/规范) / 4 高价值场景(DOE/调研/项目/沉淀) / 提效配置 / 团队规范 / 落地路线图 / 效果信号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151376"/>
            <a:ext cx="11185855" cy="4572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4151376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可复用资产：theme.js（视觉模块）+ render.sh（渲染）+ build 脚本模板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700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改文案/换主题/加页数都能复用这套资产 —— 这就是"实践落地"的真正价值。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来源：本会话最终交付物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把"个人会用"变成"团队会做" —— 大模型实践落地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可复现的工程化方法，才是真正的落地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583680" cy="219456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58368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6327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一句话总结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368296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大模型不是"聊天机器人"，而是"能动手的助理"。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用工程化方法（证据分析→风格锁定→环境核查→模块化生产→渲染 QA→方向纠偏），把它变成可复现的生产力。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1865376"/>
            <a:ext cx="4327855" cy="5029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3" name="Text 11"/>
          <p:cNvSpPr/>
          <p:nvPr/>
        </p:nvSpPr>
        <p:spPr>
          <a:xfrm>
            <a:off x="7507224" y="1865376"/>
            <a:ext cx="4053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立即行动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07224" y="2505456"/>
            <a:ext cx="403524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装好环境，打通渲染链路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用一份小材料跑通七步流程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把 theme.js 存成团队资产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沉淀你自己的踩坑清单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242816"/>
            <a:ext cx="11185855" cy="4572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" y="4242816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三份配套：PPT1 入门 · PPT2 进阶 · PPT3 实践落地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79145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入门教"开通上手"，进阶教"用好赋能"，实践落地教"复现方法" —— 三份合起来是一套完整的大模型团队能力建设。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来源：全篇收束 · 大模型实践落地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CIMICode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大模型实践落地：从文字材料到咨询级 PPT 的全流程复现</dc:title>
  <dc:subject>PptxGenJS Presentation</dc:subject>
  <dc:creator>CIMICode TD Testing</dc:creator>
  <cp:lastModifiedBy>CIMICode TD Testing</cp:lastModifiedBy>
  <cp:revision>1</cp:revision>
  <dcterms:created xsi:type="dcterms:W3CDTF">2026-07-26T05:11:31Z</dcterms:created>
  <dcterms:modified xsi:type="dcterms:W3CDTF">2026-07-26T05:11:31Z</dcterms:modified>
</cp:coreProperties>
</file>