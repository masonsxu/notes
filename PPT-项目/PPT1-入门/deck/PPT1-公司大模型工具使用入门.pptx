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· 内部培训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公司大模型工具使用入门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从开通到上手，新人 1 天搞定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749040"/>
            <a:ext cx="201168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受众：部门新人、组内工程师    |    讲师：TD Testing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平台 · 基于 OpenCode 开发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三大能力已就位，本课带你打通"开通—理解—落地"全链路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全篇五段递进，跟着走，今天就能动手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11480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11480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公司已就位的能力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" y="2322576"/>
            <a:ext cx="37856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个大模型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Flash / Pro / GLM / Kimi，按成本与能力分层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种使用形态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 / 终端版 / Web 版，覆盖开发、机台、移动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套工作流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规划 → Build 执行 + Skill 扩展能力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865376"/>
            <a:ext cx="670529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865376"/>
            <a:ext cx="670529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12"/>
          <p:cNvSpPr/>
          <p:nvPr/>
        </p:nvSpPr>
        <p:spPr>
          <a:xfrm>
            <a:off x="5111496" y="1865376"/>
            <a:ext cx="64492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本课五段路线图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84648" y="234086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5184648" y="2340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41848" y="2340864"/>
            <a:ext cx="57908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申请 Coding 权限（维护群）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35524" y="2651760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9" name="Shape 17"/>
          <p:cNvSpPr/>
          <p:nvPr/>
        </p:nvSpPr>
        <p:spPr>
          <a:xfrm>
            <a:off x="5184648" y="2852928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5184648" y="2852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41848" y="2852928"/>
            <a:ext cx="57908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安装桌面版 + 终端版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35524" y="3163824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3" name="Shape 21"/>
          <p:cNvSpPr/>
          <p:nvPr/>
        </p:nvSpPr>
        <p:spPr>
          <a:xfrm>
            <a:off x="5184648" y="3364992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5184648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41848" y="3364992"/>
            <a:ext cx="57908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配置 AGENTS.md 人设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35524" y="3675888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7" name="Shape 25"/>
          <p:cNvSpPr/>
          <p:nvPr/>
        </p:nvSpPr>
        <p:spPr>
          <a:xfrm>
            <a:off x="5184648" y="3877056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5184648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41848" y="3877056"/>
            <a:ext cx="57908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掌握 Plan-Build 与 Skill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35524" y="4187952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1" name="Shape 29"/>
          <p:cNvSpPr/>
          <p:nvPr/>
        </p:nvSpPr>
        <p:spPr>
          <a:xfrm>
            <a:off x="5184648" y="4389120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2" name="Text 30"/>
          <p:cNvSpPr/>
          <p:nvPr/>
        </p:nvSpPr>
        <p:spPr>
          <a:xfrm>
            <a:off x="5184648" y="4389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41848" y="4389120"/>
            <a:ext cx="57908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守住 Auto-Approve 安全红线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本课目标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五步走完后，新人能独立完成第一个真实任务（如：整理报错邮件、生成 CPK 分析脚本）。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大纲（§一/二/三）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资源总览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DeepSeek v4 Flash 即可满足绝大多数需求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四款模型按成本与能力分层，新人起步只认 Flash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3337560" cy="1234440"/>
          </a:xfrm>
          <a:prstGeom prst="rect">
            <a:avLst/>
          </a:prstGeom>
          <a:solidFill>
            <a:srgbClr val="EAF0F6"/>
          </a:solidFill>
          <a:ln w="15240">
            <a:solidFill>
              <a:srgbClr val="1235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0665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 v4 Flash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61488" y="210312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12355B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10312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推荐默认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" y="239572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通用推理   ·   成本 极低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" y="265176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 80% 场景：简单代码、Log 解析、格式转换、文档整理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975104"/>
            <a:ext cx="3337560" cy="12344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9664" y="20665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 v4 Pro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210312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CE5E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10312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69664" y="239572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深度推理   ·   成本 约 5×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9664" y="265176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复杂逻辑推理、深度 Bug 排查、架构设计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92424"/>
            <a:ext cx="3337560" cy="12344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48386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 5.1 / 5.2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61488" y="352044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CE5EF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52044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长文场景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" y="381304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长文本中文   ·   成本 约 5×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" y="40690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长篇 SOP 编写、跨文件复杂整理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3392424"/>
            <a:ext cx="3337560" cy="12344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9664" y="348386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 2.7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81928" y="352044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CE5E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52044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海量对比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69664" y="381304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超长上下文   ·   成本 约 5×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9664" y="40690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超大型 Log 校验、海量文档对比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35240" y="1975104"/>
            <a:ext cx="4053535" cy="13716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2084832"/>
            <a:ext cx="3797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763256" y="2743200"/>
            <a:ext cx="379750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日常场景由 Flash 覆盖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63256" y="3108960"/>
            <a:ext cx="37975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建议比例，非实测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635240" y="3465576"/>
            <a:ext cx="4053535" cy="13716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63256" y="3575304"/>
            <a:ext cx="3797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5×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763256" y="4233672"/>
            <a:ext cx="379750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高阶模型约为公网成本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63256" y="4599432"/>
            <a:ext cx="37975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 / GLM / Kimi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635240" y="4928616"/>
            <a:ext cx="4053535" cy="914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4928616"/>
            <a:ext cx="405353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2" name="Text 40"/>
          <p:cNvSpPr/>
          <p:nvPr/>
        </p:nvSpPr>
        <p:spPr>
          <a:xfrm>
            <a:off x="7763256" y="4928616"/>
            <a:ext cx="37975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新人选型口诀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781544" y="5321808"/>
            <a:ext cx="3760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日常默认 Flash；多次改不通、逻辑死循环，再切 Pro / GLM / Kimi。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新人起步无需纠结：默认 DeepSeek v4 Flash，成本极低、响应快，覆盖绝大多数日常工作。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来源：CIMICode 模型清单（§1.1） · 80% 为建议比例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资源总览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三种形态覆盖开发、机台、移动三类场景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 / 终端版 / Web 版各有阵地，按场景选形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75104"/>
          <a:ext cx="111858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3657600"/>
                <a:gridCol w="323057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形态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使用方式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特点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桌面版 Desktop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安装本地客户端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代码开发、文档撰写、数据分析、PPT 整理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视觉好，多窗口、图表预览、可视化项目管理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终端版 TUI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终端命令行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服务器自动化、Linux 跑脚本、排查机台报错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直接跑在 Linux/WSL/机台，无需图形界面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 网页版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浏览器访问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手机/移动端临时查阅、非敏感非 Coding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快捷免配置，适合突发文字处理或头脑风暴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654296"/>
            <a:ext cx="11185855" cy="8686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" y="465429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终端版安装（Linux / macOS）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npm install -g cimicode-tui      # 装好后进入项目目录运行 cimicode-tui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桌面版：macOS / Windows 下载安装包，双击安装后登录公司账号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TD Testing 强依赖本地代码库与机台数据 —— 申请 Coding 权限后，桌面版 + 终端版是主力，Web 版作轻量补充。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来源：CIMICode 平台形态（§1.2）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权限与安装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CIMICode 维护群申请 Coding 权限，一次到位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强烈建议全员申请 Coding 权限，而非仅非 Coding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57200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57200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申请流程（3 步）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" y="241401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414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52728" y="24140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CIMICode 维护群发起申请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" y="2798064"/>
            <a:ext cx="18288" cy="393192"/>
          </a:xfrm>
          <a:prstGeom prst="rect">
            <a:avLst/>
          </a:prstGeom>
          <a:solidFill>
            <a:srgbClr val="C9CDD1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" y="319125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31912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选择权限类型：Coding 或 非 Coding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" y="3575304"/>
            <a:ext cx="18288" cy="393192"/>
          </a:xfrm>
          <a:prstGeom prst="rect">
            <a:avLst/>
          </a:prstGeom>
          <a:solidFill>
            <a:srgbClr val="C9CDD1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" y="396849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52728" y="39684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获得权限，按需安装桌面版 / 终端版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1865376"/>
            <a:ext cx="6339535" cy="13716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865376"/>
            <a:ext cx="633953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1865376"/>
            <a:ext cx="60835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两种权限的区别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13832" y="2322576"/>
            <a:ext cx="601035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 Coding：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Web 网页版，纯文档/邮件草稿等简单场景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Coding：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支持安装桌面版 + 终端版，挂载本地工作区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3419856"/>
            <a:ext cx="6339535" cy="4572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5495544" y="3419856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强烈建议：全员申请 Coding 权限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4014216"/>
            <a:ext cx="601035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TD 日常（Log 解析、自动化脚本、SECS/GEM 对接）依赖本地代码库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桌面版 + TUI 能直接挂载本地工作区，自动化处理本地测试文件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灵活性与使用场景远超 Web 网页版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即使主要用 Web 版，Coding 权限也提供更多可用场景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权限一步到位选 Coding，避免日后反复申请 —— 本地代码库与机台数据是 TD 工作的核心。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来源：权限申请与建议（§2.1 / §2.2）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权限与安装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桌面版双击即装，终端版一条命令搞定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装好后登录公司账号，即可开始使用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 Desktop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" y="241401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14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9576" y="2414016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下载安装包（macOS / Windows）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" y="305409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054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9576" y="3054096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双击安装，默认配置即可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" y="369417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694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9576" y="3694176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打开桌面版，登录公司账号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4425696"/>
            <a:ext cx="505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适合：代码开发、文档撰写、数据分析、PPT 整理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终端版 TUI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34176" y="241401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34176" y="2414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9664" y="2414016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Linux / macOS / WSL 终端执行安装命令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34176" y="298094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6434176" y="2980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9664" y="2980944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进入项目目录，启动 cimicode-tui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34176" y="3547872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1" name="Text 29"/>
          <p:cNvSpPr/>
          <p:nvPr/>
        </p:nvSpPr>
        <p:spPr>
          <a:xfrm>
            <a:off x="6434176" y="3547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9664" y="3547872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按需登录账号或使用已有配置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97600" y="4197096"/>
            <a:ext cx="5126584" cy="713232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34" name="Text 32"/>
          <p:cNvSpPr/>
          <p:nvPr/>
        </p:nvSpPr>
        <p:spPr>
          <a:xfrm>
            <a:off x="6543904" y="4197096"/>
            <a:ext cx="48522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安装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npm install -g cimicode-tui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启动（在项目目录下）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cimicode-tui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桌面版负责日常开发与可视化，终端版负责机台/服务器自动化 —— 两个都装，按场景切换。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来源：安装步骤（§2.3）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概念与工作流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四个核心概念构成大模型协助开发的骨架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理解它们，才算真正会用 CIMICode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487168"/>
            <a:ext cx="3992728" cy="896112"/>
          </a:xfrm>
          <a:prstGeom prst="line">
            <a:avLst/>
          </a:prstGeom>
          <a:noFill/>
          <a:ln w="1905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2487168"/>
            <a:ext cx="3992728" cy="896112"/>
          </a:xfrm>
          <a:prstGeom prst="line">
            <a:avLst/>
          </a:prstGeom>
          <a:noFill/>
          <a:ln w="19050">
            <a:solidFill>
              <a:srgbClr val="DC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383280"/>
            <a:ext cx="3992728" cy="1024128"/>
          </a:xfrm>
          <a:prstGeom prst="line">
            <a:avLst/>
          </a:prstGeom>
          <a:noFill/>
          <a:ln w="19050">
            <a:solidFill>
              <a:srgbClr val="DC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3383280"/>
            <a:ext cx="3992728" cy="1024128"/>
          </a:xfrm>
          <a:prstGeom prst="line">
            <a:avLst/>
          </a:prstGeom>
          <a:noFill/>
          <a:ln w="1905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4288" y="283464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44288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35728" y="3310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5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＋ 打开项目 = 把代码库 / Flow / Log 导入为 Context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93852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029968"/>
            <a:ext cx="2907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AGENTS.md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" y="235915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系统人设与规则：角色、术语、编码偏好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" y="2816352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~/.cimi/cimicode/AGENTS.md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488375" y="193852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4679" y="2029968"/>
            <a:ext cx="2907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34679" y="235915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大脑：Flash / Pro / GLM / Kimi 按需切换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950208"/>
            <a:ext cx="2907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Plan / 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" y="427939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执行模式：Plan 规划 → Build 自动落地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88375" y="385876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34679" y="3950208"/>
            <a:ext cx="2907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Skills / Tools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34679" y="427939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外挂能力：web_search / grill_me / auto_approve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AGENTS.md 管人设、Model 管能力、Plan-Build 管执行、Skills 管扩展 —— 四者配合，大模型才真正"懂事"。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来源：CIMICode 核心概念（§3.1 / §3.2）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概念与工作流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模式只思考不改动，Build 模式按确认自动落地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复杂任务先 Plan 审核，再 Build 执行，避免盲改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2659304" cy="1371600"/>
          </a:xfrm>
          <a:prstGeom prst="roundRect">
            <a:avLst>
              <a:gd name="adj" fmla="val 4000"/>
            </a:avLst>
          </a:prstGeom>
          <a:solidFill>
            <a:srgbClr val="6F7275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2157984"/>
            <a:ext cx="240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用户需求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" y="2505456"/>
            <a:ext cx="2403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复杂任务输入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80512" y="2642616"/>
            <a:ext cx="146304" cy="182880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5104" y="2048256"/>
            <a:ext cx="2659304" cy="13716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3473120" y="2157984"/>
            <a:ext cx="240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模式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3120" y="2505456"/>
            <a:ext cx="2403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拆解步骤 / 设计架构 / 评估风险</a:t>
            </a:r>
            <a:endParaRPr lang="en-US" sz="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TODO.md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22696" y="2642616"/>
            <a:ext cx="146304" cy="182880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048256"/>
            <a:ext cx="2659304" cy="1371600"/>
          </a:xfrm>
          <a:prstGeom prst="roundRect">
            <a:avLst>
              <a:gd name="adj" fmla="val 4000"/>
            </a:avLst>
          </a:prstGeom>
          <a:solidFill>
            <a:srgbClr val="B5651D"/>
          </a:solidFill>
          <a:ln/>
        </p:spPr>
      </p:sp>
      <p:sp>
        <p:nvSpPr>
          <p:cNvPr id="17" name="Text 15"/>
          <p:cNvSpPr/>
          <p:nvPr/>
        </p:nvSpPr>
        <p:spPr>
          <a:xfrm>
            <a:off x="6315304" y="2157984"/>
            <a:ext cx="240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工程师确认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5304" y="2505456"/>
            <a:ext cx="2403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 Plan</a:t>
            </a:r>
            <a:endParaRPr lang="en-US" sz="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 → Build；有问题 → 回 Plan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rot="5400000">
            <a:off x="8864879" y="2642616"/>
            <a:ext cx="146304" cy="182880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29471" y="2048256"/>
            <a:ext cx="2659304" cy="1371600"/>
          </a:xfrm>
          <a:prstGeom prst="roundRect">
            <a:avLst>
              <a:gd name="adj" fmla="val 4000"/>
            </a:avLst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9157487" y="2157984"/>
            <a:ext cx="240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模式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57487" y="2505456"/>
            <a:ext cx="2403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自动创建文件 / 写入代码 / 运行测试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94176"/>
          <a:ext cx="6675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24688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是否改动文件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作用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使用时机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Plan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否（只思考）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展示思路、拆步骤、列方案，供审核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复杂任务开始前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Build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是（真执行）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按确认的 Plan 写代码、建文件、跑测试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Plan 确认无误后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360920" y="3694176"/>
            <a:ext cx="4327855" cy="123444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25" name="Text 22"/>
          <p:cNvSpPr/>
          <p:nvPr/>
        </p:nvSpPr>
        <p:spPr>
          <a:xfrm>
            <a:off x="7507224" y="3694176"/>
            <a:ext cx="405353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进入 Plan 模式规划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进入 Plan 模式，帮我规划一个测试数据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自动化分析平台的架构…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确认后切换 Build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Plan 已确认，现在进入 Build 模式执行。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8" name="Text 25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先想清楚再动手 —— 工程师审核思路，避免大模型盲改代码；确认后才 Build 自动落地。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来源：Plan-Build 工作流（§7.1 / §7.2）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场景与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大模型是 TD Testing 的全能数字助理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不止聊天机器人，日常六大场景全能上手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185416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2728" y="2185416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文件与邮件处理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779776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提取测试异常、整理报错邮件与报告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7738" y="2002536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2330" y="2185416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4472330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57546" y="2185416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编写 SOP 与 PPT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2779776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封装机台操作与测试 Flow 文档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2557" y="2002536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7149" y="2185416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7149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2365" y="2185416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脚本开发与自动化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5437" y="2779776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/ Shell / Log 解析脚本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648456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3831336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52728" y="3831336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实验设计 (DOE)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425696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基于已有数据设计实验矩阵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07738" y="3648456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72330" y="3831336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447233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57546" y="3831336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数据分析与可视化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90618" y="4425696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Yield / CPK 图表自动生成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12557" y="3648456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7149" y="3831336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5" name="Text 33"/>
          <p:cNvSpPr/>
          <p:nvPr/>
        </p:nvSpPr>
        <p:spPr>
          <a:xfrm>
            <a:off x="8277149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2365" y="3831336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知识问答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95437" y="4425696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技术问题、协议标准快速查询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0" name="Text 3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从文件整理到 DOE 设计 —— 把重复劳动交给大模型，工程师聚焦判断与决策。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来源：日常工作场景（§4 场景图）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场景与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一句指令完成 Error Code 汇总邮件 / 生成可运行 CPK 脚本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① 文件邮件整理　 Demo ② 自动化代码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① 文件整理与邮件读取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22576"/>
            <a:ext cx="5163160" cy="10515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22576"/>
            <a:ext cx="488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请读取 Downloads/logs 下 5 个报错日志，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提取所有 Error Code、发生频次与测试 Channel，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整理成 Markdown 表格，并草拟回复产线邮件。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3465576"/>
            <a:ext cx="516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预期输出：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" y="3712464"/>
            <a:ext cx="516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结构化 Error Code 汇总表（按频次排序）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可直接发送的产线回复邮件草稿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② 自动化代码（CPK / Yield）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79312" y="2322576"/>
            <a:ext cx="5163160" cy="10515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525616" y="2322576"/>
            <a:ext cx="488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写一个 Python 脚本，解析当前目录所有 .csv 测试数据，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自动计算每批次 CPK 和 yield，并将 Yield &lt; 98%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的 Wafer ID 标红导出为 Excel。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79312" y="3465576"/>
            <a:ext cx="516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预期输出：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9312" y="3712464"/>
            <a:ext cx="516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可直接运行的 Python 脚本（含异常处理）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格式化 Excel 报告（异常 Wafer 标红）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把"指令 → 输出"的闭环跑通：文件/邮件秒级整理，分析脚本一句话生成，新人当天见效。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来源：日常工作场景 Demo（§4 Demo1 / Demo2）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场景与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自然语言生成完整测试 SOP 与 PPT 大纲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③ 编写测试 SOP　 Demo ④ 制作 PPT 大纲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③ 编写测试 SOP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22576"/>
            <a:ext cx="5163160" cy="10515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22576"/>
            <a:ext cx="488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根据项目中的 prober_driver.py 驱动代码，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生成《机台自动化测试标准操作规程 (SOP)》,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含环境准备、初始化、Flow 挂载、常见报错排查。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3465576"/>
            <a:ext cx="516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预期输出：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" y="3712464"/>
            <a:ext cx="516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完整 SOP 文档（步骤截图描述）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常见问题 FAQ 与排查步骤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④ 制作 PPT 大纲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79312" y="2322576"/>
            <a:ext cx="5163160" cy="10515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525616" y="2322576"/>
            <a:ext cx="488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做一个"测试数据自动化分析"组内分享 PPT，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目标受众是部门工程师，请设计大纲，含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背景、问题、方案、Demo、效果对比。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79312" y="3465576"/>
            <a:ext cx="516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预期输出：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9312" y="3712464"/>
            <a:ext cx="516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结构化 PPT 大纲（每页核心要点）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建议的图表类型与讲解节奏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读代码出 SOP、一句话出大纲 —— 文档与汇报材料的生产周期从"半天"压缩到"分钟"。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来源：日常工作场景 Demo（§4 Demo3 / Demo4）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场景与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基于测试数据设计 DOE，并做技术调研头脑风暴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⑤ DOE 实验设计　 Demo ⑥ 技术调研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⑤ DOE 实验设计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04288"/>
            <a:ext cx="5163160" cy="9144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04288"/>
            <a:ext cx="488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这是最近 3 批次接触电阻 rc_data.json。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请结合 Micro-bump 失效机制，设计 3 因子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水平 DOE，优化针尖压力与清洗周期。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3346704"/>
          <a:ext cx="5163160" cy="914400"/>
        </p:xfrm>
        <a:graphic>
          <a:graphicData uri="http://schemas.openxmlformats.org/drawingml/2006/table">
            <a:tbl>
              <a:tblPr/>
              <a:tblGrid>
                <a:gridCol w="2294738"/>
                <a:gridCol w="1434211"/>
                <a:gridCol w="1434211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因子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 (-1)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 (+1)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Overdrive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 μm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80 μm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Clean Count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 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 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Soak Time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 ms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ms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9224" y="4654296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目标：降低接触电阻标准差，CPK 提升至 1.5 以上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7" name="Text 14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⑥ 技术调研与头脑风暴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79312" y="2304288"/>
            <a:ext cx="5163160" cy="9144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9" name="Text 16"/>
          <p:cNvSpPr/>
          <p:nvPr/>
        </p:nvSpPr>
        <p:spPr>
          <a:xfrm>
            <a:off x="6525616" y="2304288"/>
            <a:ext cx="488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探针台针尖磨损导致虚焊/测量不准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(False Contact Failure)。请检索并整理工业界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解决 Micro-bump 探针损伤的主流方案，列 5 个方向对比。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79312" y="3346704"/>
            <a:ext cx="516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预期输出：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79312" y="3602736"/>
            <a:ext cx="516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技术方案对比表（利弊 + 引入成本）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5 个头脑风暴方向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推荐的实施路径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1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从数据到实验方案、从难题到决策路径 —— 大模型把"经验型难题"变成"可执行清单"。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来源：日常工作场景 Demo（§4 Demo5 / Demo6）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AGENTS.md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 AGENTS.md 让大模型秒懂半导体测试语境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消歧义 + 提效率 + 统一标准，一次配置永久生效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8463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8463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4590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为什么必须配置：术语消歧义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45537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901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术语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通用理解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半导体专业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Bump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碰撞、撞击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微凸块，芯片互连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Probe Card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探测卡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探针卡，晶圆测试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Yield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产量、收益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良率，合格品比例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Pre-DC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预直流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减薄/划片/键合前电性测试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23560" y="1865376"/>
            <a:ext cx="60652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23560" y="1865376"/>
            <a:ext cx="60652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11"/>
          <p:cNvSpPr/>
          <p:nvPr/>
        </p:nvSpPr>
        <p:spPr>
          <a:xfrm>
            <a:off x="5751576" y="1865376"/>
            <a:ext cx="58091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基础配置模板（三段）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69864" y="2322576"/>
            <a:ext cx="5772607" cy="214884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6" name="Text 13"/>
          <p:cNvSpPr/>
          <p:nvPr/>
        </p:nvSpPr>
        <p:spPr>
          <a:xfrm>
            <a:off x="5916168" y="2322576"/>
            <a:ext cx="5498287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Role &amp; Background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你是一个半导体先进封装 TD Testing 部门的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高级测试工程师与自动化专家。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Terminology &amp; Context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Pre-DC: Wafer 减薄/划片/键合前的直流电性测试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熟知 SECS/GEM、Prober、Tester 通讯机制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Coding &amp; Response Style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优先 Python 数据分析与自动化脚本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代码必须包含健壮的异常处理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69864" y="4562856"/>
            <a:ext cx="5772607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~/.cimi/cimicode/AGENTS.md（全局，对所有项目生效；改完立即生效，无需重启）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7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不配置背景，大模型按通用语义理解术语 —— 一份 AGENTS.md 让全团队获得一致且专业的 AI 辅助。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来源：AGENTS.md 配置入门（§5.1 / §5.2 / §5.3）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Skill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两个必备 Skill 让新人提问不卡壳、信息不过期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厘清需求　 Web Search 补时效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Grill-Me：需求澄清助手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" y="2304288"/>
            <a:ext cx="516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解决：新人不知道怎么提需求，模型猜错意图。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" y="2734056"/>
            <a:ext cx="5163160" cy="365760"/>
          </a:xfrm>
          <a:prstGeom prst="roundRect">
            <a:avLst>
              <a:gd name="adj" fmla="val 12500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34056"/>
            <a:ext cx="494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帮我写一个良率分析脚本。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" y="3191256"/>
            <a:ext cx="5163160" cy="1097280"/>
          </a:xfrm>
          <a:prstGeom prst="roundRect">
            <a:avLst>
              <a:gd name="adj" fmla="val 4167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255264"/>
            <a:ext cx="494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反问：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数据源格式（CSV/Excel/SQLite）？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良率是否剔除 Dummy Die？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异常阈值（如 &lt; 95%）？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输出格式（Markdown/Excel/图表）？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9224" y="4407408"/>
            <a:ext cx="5163160" cy="4572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407408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/install-skill grill-me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Search：联网搜索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9312" y="2304288"/>
            <a:ext cx="516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解决：训练数据有截止日期，查不到最新工具/标准。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79312" y="2779776"/>
            <a:ext cx="5163160" cy="310896"/>
          </a:xfrm>
          <a:prstGeom prst="roundRect">
            <a:avLst>
              <a:gd name="adj" fmla="val 17647"/>
            </a:avLst>
          </a:prstGeom>
          <a:solidFill>
            <a:srgbClr val="DCE5EF"/>
          </a:solidFill>
          <a:ln/>
        </p:spPr>
      </p:sp>
      <p:sp>
        <p:nvSpPr>
          <p:cNvPr id="23" name="Text 21"/>
          <p:cNvSpPr/>
          <p:nvPr/>
        </p:nvSpPr>
        <p:spPr>
          <a:xfrm>
            <a:off x="6452464" y="2779776"/>
            <a:ext cx="5016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最新 API 文档（如 pysecsgem）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79312" y="3163824"/>
            <a:ext cx="5163160" cy="310896"/>
          </a:xfrm>
          <a:prstGeom prst="roundRect">
            <a:avLst>
              <a:gd name="adj" fmla="val 17647"/>
            </a:avLst>
          </a:prstGeom>
          <a:solidFill>
            <a:srgbClr val="DCE5EF"/>
          </a:solidFill>
          <a:ln/>
        </p:spPr>
      </p:sp>
      <p:sp>
        <p:nvSpPr>
          <p:cNvPr id="25" name="Text 23"/>
          <p:cNvSpPr/>
          <p:nvPr/>
        </p:nvSpPr>
        <p:spPr>
          <a:xfrm>
            <a:off x="6452464" y="3163824"/>
            <a:ext cx="5016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行业标准更新（JEDEC 等）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79312" y="3547872"/>
            <a:ext cx="5163160" cy="310896"/>
          </a:xfrm>
          <a:prstGeom prst="roundRect">
            <a:avLst>
              <a:gd name="adj" fmla="val 17647"/>
            </a:avLst>
          </a:prstGeom>
          <a:solidFill>
            <a:srgbClr val="DCE5EF"/>
          </a:solidFill>
          <a:ln/>
        </p:spPr>
      </p:sp>
      <p:sp>
        <p:nvSpPr>
          <p:cNvPr id="27" name="Text 25"/>
          <p:cNvSpPr/>
          <p:nvPr/>
        </p:nvSpPr>
        <p:spPr>
          <a:xfrm>
            <a:off x="6452464" y="3547872"/>
            <a:ext cx="5016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开源项目最新版本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79312" y="3931920"/>
            <a:ext cx="5163160" cy="310896"/>
          </a:xfrm>
          <a:prstGeom prst="roundRect">
            <a:avLst>
              <a:gd name="adj" fmla="val 17647"/>
            </a:avLst>
          </a:prstGeom>
          <a:solidFill>
            <a:srgbClr val="DCE5EF"/>
          </a:solidFill>
          <a:ln/>
        </p:spPr>
      </p:sp>
      <p:sp>
        <p:nvSpPr>
          <p:cNvPr id="29" name="Text 27"/>
          <p:cNvSpPr/>
          <p:nvPr/>
        </p:nvSpPr>
        <p:spPr>
          <a:xfrm>
            <a:off x="6452464" y="3931920"/>
            <a:ext cx="5016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报错代码解决方案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79312" y="4407408"/>
            <a:ext cx="5163160" cy="4572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31" name="Text 29"/>
          <p:cNvSpPr/>
          <p:nvPr/>
        </p:nvSpPr>
        <p:spPr>
          <a:xfrm>
            <a:off x="6525616" y="4407408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/install-skill web-search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让新人"问对问题"，Web Search 让大模型"查到最新" —— 两个 Skill 补齐新人最常踩的两个坑。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来源：Skill 安装与使用（§6.1 / §6.2）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权限与安全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个人环境开 Auto-Approve，产线系统严守确认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默认每次确认太慢；但要按环境分级放开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76656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76656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6510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权限分级建议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64739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环境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权限建议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原因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个人本地项目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Auto-Approve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提升效率，无风险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共享代码库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默认确认模式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防止误操作影响他人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产线相关系统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严格确认模式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安全第一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" y="4562856"/>
            <a:ext cx="6473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Auto-Approve 适用：独立的 Git 分支、沙盒测试环境、个人本地项目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1865376"/>
            <a:ext cx="4144975" cy="3200400"/>
          </a:xfrm>
          <a:prstGeom prst="roundRect">
            <a:avLst>
              <a:gd name="adj" fmla="val 1714"/>
            </a:avLst>
          </a:prstGeom>
          <a:solidFill>
            <a:srgbClr val="F6ECD8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43800" y="1865376"/>
            <a:ext cx="73152" cy="32004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5" name="Text 12"/>
          <p:cNvSpPr/>
          <p:nvPr/>
        </p:nvSpPr>
        <p:spPr>
          <a:xfrm>
            <a:off x="7763256" y="1993392"/>
            <a:ext cx="37792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安全红线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63256" y="2368296"/>
            <a:ext cx="3706063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严禁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在产线机台数据库删除、线上配置文件修改时开启全局免确认。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建议做法：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仅在个人开发环境中使用 Auto-Approve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完成任务后及时关闭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定期审查权限配置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效率与安全不冲突 —— 个人环境放开提效，产线系统一步一确认，红线绝不碰。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来源：权限配置（§8.1 / §8.2 / §8.3）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FAQ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三类高频问题都有标准排查路径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新人踩坑不用慌，按路径逐一排查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3576218" cy="3108960"/>
          </a:xfrm>
          <a:prstGeom prst="roundRect">
            <a:avLst>
              <a:gd name="adj" fmla="val 1765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56816"/>
            <a:ext cx="3576218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121408"/>
            <a:ext cx="3283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 安装失败怎么办？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2578608"/>
            <a:ext cx="328361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排查路径：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" y="2871216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检查网络连接，确保可访问公司内网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确认已获得 Coding 权限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联系 CIMICode 维护群获取支持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7738" y="1956816"/>
            <a:ext cx="3576218" cy="3108960"/>
          </a:xfrm>
          <a:prstGeom prst="roundRect">
            <a:avLst>
              <a:gd name="adj" fmla="val 1765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1956816"/>
            <a:ext cx="3576218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4454042" y="2121408"/>
            <a:ext cx="3283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 大模型回答不准？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54042" y="2578608"/>
            <a:ext cx="328361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排查路径：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54042" y="2871216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检查 AGENTS.md 是否配置正确背景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用 Grill-Me Skill 厘清需求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提供更多上下文（文件路径、错误码）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2557" y="1956816"/>
            <a:ext cx="3576218" cy="3108960"/>
          </a:xfrm>
          <a:prstGeom prst="roundRect">
            <a:avLst>
              <a:gd name="adj" fmla="val 1765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2557" y="1956816"/>
            <a:ext cx="3576218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8258861" y="2121408"/>
            <a:ext cx="3283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 Token 消耗太快？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58861" y="2578608"/>
            <a:ext cx="328361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排查路径：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58861" y="2871216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日常任务用 DeepSeek v4 Flash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复杂任务才切 Pro 模型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避免粘贴大量原始数据，先脚本提取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5202936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附：在 CIMICode 界面顶部或设置中，可查看当前使用的模型与 Token 消耗。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来源：常见问题 FAQ（§九）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照着这 8 步，今天完成第一个真实任务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新人上手 Checklist · 建议当天完成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02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" y="2002536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 在 CIMICode 维护群申请 Coding 权限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8728" y="200253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728" y="2002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81064" y="2002536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 安装桌面版和/或终端版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6946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69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" y="2569464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 配置 AGENTS.md（参考模板）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8728" y="256946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2569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81064" y="2569464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 安装 Grill-Me Skill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3639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36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" y="3136392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 安装 Web Search Skill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8728" y="313639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3136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1064" y="3136392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 打开一个实际项目目录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7033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03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" y="3703320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  完成一个简单任务（如文件整理）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78728" y="37033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8728" y="3703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81064" y="3703320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  用 Plan-Build 完成一个复杂任务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379976"/>
            <a:ext cx="11185855" cy="5029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" y="4379976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下一步：进阶学习《大模型成本优化与高级功能配置》(PPT2) —— 解决"用得起、用得好"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97433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PPT2 面向老板 / TL，覆盖 Token 成本优化、AGENTS.md 高级配置、Plan-Build 进阶与团队落地路线图。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来源：快速上手 Checklist（§十）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CIMICode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公司大模型工具使用入门</dc:title>
  <dc:subject>PptxGenJS Presentation</dc:subject>
  <dc:creator>CIMICode TD Testing</dc:creator>
  <cp:lastModifiedBy>CIMICode TD Testing</cp:lastModifiedBy>
  <cp:revision>1</cp:revision>
  <dcterms:created xsi:type="dcterms:W3CDTF">2026-07-26T04:37:20Z</dcterms:created>
  <dcterms:modified xsi:type="dcterms:W3CDTF">2026-07-26T04:37:20Z</dcterms:modified>
</cp:coreProperties>
</file>