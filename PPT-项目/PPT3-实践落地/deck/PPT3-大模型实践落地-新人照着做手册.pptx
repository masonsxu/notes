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CIMICode · 实践手册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大模型实践落地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新人照着做手册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3429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每一步都给指令、预期产出和验收点 —— 跟着敲一遍，一遍出活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160520"/>
            <a:ext cx="2011680" cy="5486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5897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受众：部门新人、组内工程师    |    全程约 2-3 小时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配套：PPT1《入门》 · PPT2《进阶与团队落地》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使用说明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怎么用这本手册：三段式 + 五个实战产出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左边照着输，右边对答案，底部看验收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760720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5760720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504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每页固定的三段式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" y="2414016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12355B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" y="241401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你输入这个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78024" y="2414016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深色代码块，整段复制粘贴到 CIMICode 对话框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" y="3218688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2F6B4F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" y="321868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你会得到这个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78024" y="3218688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浅色结构区，对照你的实际产出是否一致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" y="402336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B5651D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" y="4023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验收点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78024" y="4023360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绿底条，满足它就算这一步成功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37960" y="1865376"/>
            <a:ext cx="5150815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1865376"/>
            <a:ext cx="5150815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2" name="Text 20"/>
          <p:cNvSpPr/>
          <p:nvPr/>
        </p:nvSpPr>
        <p:spPr>
          <a:xfrm>
            <a:off x="6665976" y="1865376"/>
            <a:ext cx="489478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跟做完，你将产出 5 个成果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20840" y="2441448"/>
            <a:ext cx="329184" cy="329184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78040" y="2414016"/>
            <a:ext cx="4327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报错邮件整理 + 回复草稿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20840" y="2898648"/>
            <a:ext cx="329184" cy="329184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2898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78040" y="2871216"/>
            <a:ext cx="4327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CPK / Yield 分析脚本 + Excel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20840" y="3355848"/>
            <a:ext cx="329184" cy="329184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3355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78040" y="3328416"/>
            <a:ext cx="4327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一份测试 SOP 文档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0840" y="3813048"/>
            <a:ext cx="329184" cy="329184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33" name="Text 31"/>
          <p:cNvSpPr/>
          <p:nvPr/>
        </p:nvSpPr>
        <p:spPr>
          <a:xfrm>
            <a:off x="6720840" y="3813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78040" y="3785616"/>
            <a:ext cx="4327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一份 DOE 实验矩阵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20840" y="4270248"/>
            <a:ext cx="329184" cy="329184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36" name="Text 34"/>
          <p:cNvSpPr/>
          <p:nvPr/>
        </p:nvSpPr>
        <p:spPr>
          <a:xfrm>
            <a:off x="6720840" y="4270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78040" y="4242816"/>
            <a:ext cx="4327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一份技术调研对比表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20840" y="4791456"/>
            <a:ext cx="4785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前置：先翻一遍 PPT1 了解基本概念。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41" name="Text 39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开始前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确认你已拿到 Coding 权限、有一台可联网的电脑 —— 翻到下一页开始环境就绪。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来源：本手册为 PPT1+PPT2 的可复刻实践版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实践① 环境就绪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第一步：拿到权限、装好软件、登录账号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环境就绪是后续一切的前提 —— 约 20 分钟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455768" cy="278892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操作步骤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7512" y="2432304"/>
            <a:ext cx="329184" cy="329184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24323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06424" y="2414016"/>
            <a:ext cx="467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 CIMICode 维护群申请 Coding 权限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" y="2935224"/>
            <a:ext cx="329184" cy="329184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2935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06424" y="2916936"/>
            <a:ext cx="467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桌面版：官网下载安装包，双击安装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3438144"/>
            <a:ext cx="329184" cy="329184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438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06424" y="3419856"/>
            <a:ext cx="467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终端版：终端执行右边的命令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941064"/>
            <a:ext cx="329184" cy="329184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39410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06424" y="3922776"/>
            <a:ext cx="467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打开桌面版 / 运行 cimicode-tui，登录公司账号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33008" y="1865376"/>
            <a:ext cx="5455768" cy="278892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3008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5" name="Text 23"/>
          <p:cNvSpPr/>
          <p:nvPr/>
        </p:nvSpPr>
        <p:spPr>
          <a:xfrm>
            <a:off x="6361024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可复制命令（终端版）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79312" y="2322576"/>
            <a:ext cx="5163160" cy="137160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27" name="Text 25"/>
          <p:cNvSpPr/>
          <p:nvPr/>
        </p:nvSpPr>
        <p:spPr>
          <a:xfrm>
            <a:off x="6525616" y="2322576"/>
            <a:ext cx="488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安装终端版（Linux / macOS / WSL）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npm install -g cimicode-tui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进入你的项目目录后启动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cd ~/your_project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cimicode-tui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97600" y="3831336"/>
            <a:ext cx="51265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桌面版无需命令：下载 → 双击 → 登录。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4809744"/>
            <a:ext cx="11185855" cy="475488"/>
          </a:xfrm>
          <a:prstGeom prst="rect">
            <a:avLst/>
          </a:prstGeom>
          <a:solidFill>
            <a:srgbClr val="E8F1EC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809744"/>
            <a:ext cx="64008" cy="475488"/>
          </a:xfrm>
          <a:prstGeom prst="rect">
            <a:avLst/>
          </a:prstGeom>
          <a:solidFill>
            <a:srgbClr val="2F6B4F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809744"/>
            <a:ext cx="1091153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✅ 验收点：终端运行 cimicode-tui 能进入界面 / 桌面版能登录看到主界面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来源：PPT1 §2.1-§2.3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实践② 配置 AGENTS.md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第二步：配置 AGENTS.md，让模型秒懂半导体术语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一次配置永久生效 —— 这是输出质量的分水岭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455768" cy="278892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把下面内容存成 AGENTS.md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" y="2286000"/>
            <a:ext cx="5163160" cy="228600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286000"/>
            <a:ext cx="488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文件路径：~/.cimi/cimicode/AGENTS.md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Role &amp; Background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你是一个半导体先进封装 TD Testing 部门的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高级测试工程师与自动化专家。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Terminology &amp; Context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Pre-DC: Wafer 减薄/划片/键合前的直流电性测试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熟知 SECS/GEM 协议、Prober、Tester 通讯机制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业务重点: 测试 Flow 优化、机台报错、CPK 分析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Coding &amp; Response Style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优先 Python 数据分析与自动化脚本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代码必须包含健壮的异常处理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回答专业、简洁、结果导向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33008" y="1865376"/>
            <a:ext cx="5455768" cy="278892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3008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5" name="Text 13"/>
          <p:cNvSpPr/>
          <p:nvPr/>
        </p:nvSpPr>
        <p:spPr>
          <a:xfrm>
            <a:off x="6361024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配好后，新建对话问这句话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97600" y="2322576"/>
            <a:ext cx="512658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你问：「Bump 和 Yield 在半导体测试里分别指什么？」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正确反应（说明配置生效）：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Bump = 微凸块，用于芯片互连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Yield = 良率，合格品占总数比例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错误反应（说明没读到配置）：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Bump = 碰撞、撞击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Yield = 产量、收益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提示：改完 AGENTS.md 立即生效，无需重启。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809744"/>
            <a:ext cx="11185855" cy="475488"/>
          </a:xfrm>
          <a:prstGeom prst="rect">
            <a:avLst/>
          </a:prstGeom>
          <a:solidFill>
            <a:srgbClr val="E8F1EC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809744"/>
            <a:ext cx="64008" cy="475488"/>
          </a:xfrm>
          <a:prstGeom prst="rect">
            <a:avLst/>
          </a:prstGeom>
          <a:solidFill>
            <a:srgbClr val="2F6B4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809744"/>
            <a:ext cx="1091153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✅ 验收点：模型把 Bump 解释成"微凸块"而非"碰撞" —— 配置成功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来源：PPT1 §5 · PPT2 §3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实践③ 装必备 Skill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第三步：装 Grill-Me 和 Web Search 两个 Skill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Grill-Me 帮你问对问题，Web Search 帮模型查最新资料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455768" cy="278892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在 CIMICode 里依次输入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" y="2286000"/>
            <a:ext cx="5163160" cy="228600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286000"/>
            <a:ext cx="488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/install-skill grill-me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/install-skill web-search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装好后，试着输入一句模糊需求：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帮我写一个良率分析脚本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33008" y="1865376"/>
            <a:ext cx="5455768" cy="278892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3008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5" name="Text 13"/>
          <p:cNvSpPr/>
          <p:nvPr/>
        </p:nvSpPr>
        <p:spPr>
          <a:xfrm>
            <a:off x="6361024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Grill-Me 会这样反问（说明装好了）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97600" y="2322576"/>
            <a:ext cx="512658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Grill-Me 反问：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数据源是什么格式（CSV/Excel/SQLite）？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良率是否剔除 Dummy Die？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异常阈值设多少（如 &lt; 95%）？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输出什么格式（Markdown/Excel/图表）？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 是否按 Lot/Wafer/Die 分层统计？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 Search 用法：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 使用 web search 查 pysecsgem 最新 API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809744"/>
            <a:ext cx="11185855" cy="475488"/>
          </a:xfrm>
          <a:prstGeom prst="rect">
            <a:avLst/>
          </a:prstGeom>
          <a:solidFill>
            <a:srgbClr val="E8F1EC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809744"/>
            <a:ext cx="64008" cy="475488"/>
          </a:xfrm>
          <a:prstGeom prst="rect">
            <a:avLst/>
          </a:prstGeom>
          <a:solidFill>
            <a:srgbClr val="2F6B4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809744"/>
            <a:ext cx="1091153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✅ 验收点：输入模糊需求后，模型先反问而非直接写代码 —— Grill-Me 生效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来源：PPT1 §6 · PPT2 §5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实践④ Plan-Build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第四步：打开项目，跑通一次 Plan → Build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复杂任务先 Plan 审核，确认后再 Build 自动落地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455768" cy="278892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操作 + Plan 指令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7512" y="2304288"/>
            <a:ext cx="51265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 CIMICode 里打开你的项目目录（File → Open Folder）。然后输入：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49224" y="2779776"/>
            <a:ext cx="5163160" cy="137160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2779776"/>
            <a:ext cx="488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进入 Plan 模式，帮我规划一个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测试数据自动化分析的小工具，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能读 CSV、算 CPK 和 yield、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导出 Excel 报告。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审核它给的 Plan，满意后输入：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Plan 已确认，进入 Build 模式执行。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3008" y="1865376"/>
            <a:ext cx="5455768" cy="278892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3008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61024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你会看到 Plan → Build 全过程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97600" y="2322576"/>
            <a:ext cx="512658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Plan 阶段（只思考不改动）：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列出要创建的文件清单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拆成 2-3 个 Phase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标注风险点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 你审核，OK 就让它 Build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 阶段（自动落地）：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自动创建文件、写入代码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运行测试验证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生成 Excel 报告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809744"/>
            <a:ext cx="11185855" cy="475488"/>
          </a:xfrm>
          <a:prstGeom prst="rect">
            <a:avLst/>
          </a:prstGeom>
          <a:solidFill>
            <a:srgbClr val="E8F1EC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809744"/>
            <a:ext cx="64008" cy="475488"/>
          </a:xfrm>
          <a:prstGeom prst="rect">
            <a:avLst/>
          </a:prstGeom>
          <a:solidFill>
            <a:srgbClr val="2F6B4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809744"/>
            <a:ext cx="1091153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✅ 验收点：Build 结束后，项目目录里多出可运行的脚本文件，且能跑出 Excel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来源：PPT1 §7 · PPT2 §4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实战 A · 文件整理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实战 A：一句指令，报错邮件整理 + 回复草稿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场景：收到多封报错邮件和 Raw Log，要快速总结回复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455768" cy="278892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复制这段到对话框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" y="2286000"/>
            <a:ext cx="5163160" cy="228600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286000"/>
            <a:ext cx="488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请读取 Downloads/logs 目录下的 5 个报错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日志文件，提取出所有的 Error Code、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发生频次以及对应的测试 Channel，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整理成一份 Markdown 表格，并草拟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一封回复给产线工程师的邮件。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33008" y="1865376"/>
            <a:ext cx="5455768" cy="278892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3008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5" name="Text 13"/>
          <p:cNvSpPr/>
          <p:nvPr/>
        </p:nvSpPr>
        <p:spPr>
          <a:xfrm>
            <a:off x="6361024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你会得到两段产出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97600" y="2322576"/>
            <a:ext cx="512658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1 · Error Code 汇总表：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| Error Code | 频次 | Channel |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| ERR-2041   | 15   | Ch-03   |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| ERR-1098   | 8    | Ch-07   |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（按频次降序排列）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2 · 邮件草稿：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主题 + 称呼 + 异常概述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关键 Error Code 列表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建议处理方式 + 落款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（可直接复制发送）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809744"/>
            <a:ext cx="11185855" cy="475488"/>
          </a:xfrm>
          <a:prstGeom prst="rect">
            <a:avLst/>
          </a:prstGeom>
          <a:solidFill>
            <a:srgbClr val="E8F1EC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809744"/>
            <a:ext cx="64008" cy="475488"/>
          </a:xfrm>
          <a:prstGeom prst="rect">
            <a:avLst/>
          </a:prstGeom>
          <a:solidFill>
            <a:srgbClr val="2F6B4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809744"/>
            <a:ext cx="1091153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✅ 验收点：同时拿到结构化表格 + 可发送邮件两段内容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来源：PPT1 §4 Demo1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实战 B · 分析脚本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实战 B：自然语言生成 CPK / Yield 分析脚本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场景：测试数据格式复杂，要写脚本清洗并出 Excel 报告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455768" cy="278892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复制这段到对话框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" y="2286000"/>
            <a:ext cx="5163160" cy="228600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286000"/>
            <a:ext cx="488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写一个 Python 脚本，解析当前目录下所有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.csv 格式的测试数据，自动计算每批次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(Lot) 的 CPK 和 yield，并将 Yield &lt; 98%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的 Wafer ID 标红导出为 Excel。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33008" y="1865376"/>
            <a:ext cx="5455768" cy="278892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3008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5" name="Text 13"/>
          <p:cNvSpPr/>
          <p:nvPr/>
        </p:nvSpPr>
        <p:spPr>
          <a:xfrm>
            <a:off x="6361024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你会得到可运行脚本 + Excel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97600" y="2322576"/>
            <a:ext cx="512658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脚本结构（analyzer.py）：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pandas 读取所有 CSV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按 Lot 分组算 CPK / yield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yield &lt; 98% 的 Wafer 标记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异常处理（文件缺失/格式错）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导出 Excel（openpyxl 标红）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直接运行：$ python analyzer.py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生成 report.xlsx，异常 Wafer 红色高亮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809744"/>
            <a:ext cx="11185855" cy="475488"/>
          </a:xfrm>
          <a:prstGeom prst="rect">
            <a:avLst/>
          </a:prstGeom>
          <a:solidFill>
            <a:srgbClr val="E8F1EC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809744"/>
            <a:ext cx="64008" cy="475488"/>
          </a:xfrm>
          <a:prstGeom prst="rect">
            <a:avLst/>
          </a:prstGeom>
          <a:solidFill>
            <a:srgbClr val="2F6B4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809744"/>
            <a:ext cx="1091153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✅ 验收点：python analyzer.py 能跑通，生成的 Excel 里低良率 Wafer 是红色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来源：PPT1 §4 Demo2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实战 C · 编写 SOP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实战 C：读驱动代码，生成测试 SOP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场景：新增探针台，要写机台自动化测试标准操作规程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455768" cy="278892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复制这段到对话框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" y="2286000"/>
            <a:ext cx="5163160" cy="228600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286000"/>
            <a:ext cx="488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根据当前项目中的 prober_driver.py 驱动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代码，生成一份《机台自动化测试标准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操作规程 (SOP)》，包含：环境准备、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机台初始化、测试 Flow 挂载、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常见报错排查步骤。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33008" y="1865376"/>
            <a:ext cx="5455768" cy="278892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3008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5" name="Text 13"/>
          <p:cNvSpPr/>
          <p:nvPr/>
        </p:nvSpPr>
        <p:spPr>
          <a:xfrm>
            <a:off x="6361024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你会得到一份完整 SOP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97600" y="2322576"/>
            <a:ext cx="512658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SOP 结构：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环境准备（依赖、配置、连接检查）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机台初始化（上电、归零、校准）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测试 Flow 挂载（加载/启动/监控）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常见报错排查（ERR-xxxx → 原因 → 处置）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 附录：FAQ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它还会主动补：步骤截图描述、安全注意事项。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809744"/>
            <a:ext cx="11185855" cy="475488"/>
          </a:xfrm>
          <a:prstGeom prst="rect">
            <a:avLst/>
          </a:prstGeom>
          <a:solidFill>
            <a:srgbClr val="E8F1EC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809744"/>
            <a:ext cx="64008" cy="475488"/>
          </a:xfrm>
          <a:prstGeom prst="rect">
            <a:avLst/>
          </a:prstGeom>
          <a:solidFill>
            <a:srgbClr val="2F6B4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809744"/>
            <a:ext cx="1091153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✅ 验收点：SOP 四大步骤齐全，且报错排查步骤对应真实错误码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来源：PPT1 §4 Demo3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实战 D · DOE 设计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实战 D：基于测试数据，设计 DOE 实验矩阵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场景：接触电阻偏高，要设计实验优化针尖压力与清洗周期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455768" cy="278892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复制这段到对话框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" y="2286000"/>
            <a:ext cx="5163160" cy="228600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286000"/>
            <a:ext cx="488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这是我们最近 3 批次的接触电阻数据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rc_data.json。请分析数据分布，结合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先进封装 Micro-bump 的失效机制，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为我设计一份 3 因子 2 水平的 DOE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实验方案，优化针尖压力 (Overdrive)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和清洗周期。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33008" y="1865376"/>
            <a:ext cx="5455768" cy="278892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3008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5" name="Text 13"/>
          <p:cNvSpPr/>
          <p:nvPr/>
        </p:nvSpPr>
        <p:spPr>
          <a:xfrm>
            <a:off x="6361024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你会得到因子矩阵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97600" y="2322576"/>
            <a:ext cx="512658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因子与水平：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| 因子        | -1    | +1    |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| Overdrive   | 50μm  | 80μm  |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| Clean Count | 50次  | 100次 |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| Soak Time   | 10ms  | 30ms  |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+ 2³ 全因子实验矩阵（8 组）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每组建议测试 ≥100 Die、重复 3 次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目标：CPK 提升至 1.5 以上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809744"/>
            <a:ext cx="11185855" cy="475488"/>
          </a:xfrm>
          <a:prstGeom prst="rect">
            <a:avLst/>
          </a:prstGeom>
          <a:solidFill>
            <a:srgbClr val="E8F1EC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809744"/>
            <a:ext cx="64008" cy="475488"/>
          </a:xfrm>
          <a:prstGeom prst="rect">
            <a:avLst/>
          </a:prstGeom>
          <a:solidFill>
            <a:srgbClr val="2F6B4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809744"/>
            <a:ext cx="1091153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✅ 验收点：拿到完整的 3 因子 × 2 水平实验矩阵表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来源：PPT1 §4 Demo5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实战 E · 技术调研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实战 E：技术难题没思路，让模型做调研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场景：探针虚焊问题，要调研工业界主流方案并对比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455768" cy="278892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复制这段到对话框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" y="2286000"/>
            <a:ext cx="5163160" cy="228600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286000"/>
            <a:ext cx="488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探针台针尖磨损导致的虚焊/测量不准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(False Contact Failure)。请作为测试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专家，针对 3D 堆叠先进封装，检索并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整理工业界解决 Micro-bump 探针损伤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的主流方案，列出 5 个头脑风暴方向，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对比利弊与引入成本。（可用 web search）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33008" y="1865376"/>
            <a:ext cx="5455768" cy="278892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3008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5" name="Text 13"/>
          <p:cNvSpPr/>
          <p:nvPr/>
        </p:nvSpPr>
        <p:spPr>
          <a:xfrm>
            <a:off x="6361024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你会得到决策清单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97600" y="2322576"/>
            <a:ext cx="512658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产出：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5 个技术方向（如：针尖材料/清洗策略/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接触参数/PC 设计/补偿算法）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每个方向：原理 + 利 + 弊 + 引入成本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推荐实施路径（优先级排序）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配合 web search，还能拿到最新论文/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厂商方案的链接。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809744"/>
            <a:ext cx="11185855" cy="475488"/>
          </a:xfrm>
          <a:prstGeom prst="rect">
            <a:avLst/>
          </a:prstGeom>
          <a:solidFill>
            <a:srgbClr val="E8F1EC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809744"/>
            <a:ext cx="64008" cy="475488"/>
          </a:xfrm>
          <a:prstGeom prst="rect">
            <a:avLst/>
          </a:prstGeom>
          <a:solidFill>
            <a:srgbClr val="2F6B4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809744"/>
            <a:ext cx="1091153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✅ 验收点：得到 ≥5 个方向的对比表，且含利弊与成本，能直接用于决策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来源：PPT1 §4 Demo6 · PPT2 §9.1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提效配置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提效：Auto-Approve + 会话复用，少点确认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个人环境放开提效，产线严守确认；会话模板化省重复输入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455768" cy="278892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Auto-Approve（自动执行）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2322576"/>
          <a:ext cx="5163160" cy="914400"/>
        </p:xfrm>
        <a:graphic>
          <a:graphicData uri="http://schemas.openxmlformats.org/drawingml/2006/table">
            <a:tbl>
              <a:tblPr/>
              <a:tblGrid>
                <a:gridCol w="388300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环境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建议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个人本地项目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开 Auto-Approve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共享代码库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默认确认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产线相关系统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严格确认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49224" y="3877056"/>
            <a:ext cx="516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B5651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⚠ 红线：产线数据库删除、线上配置严禁全局免确认；用完及时关。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233008" y="1865376"/>
            <a:ext cx="5455768" cy="278892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33008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5" name="Text 12"/>
          <p:cNvSpPr/>
          <p:nvPr/>
        </p:nvSpPr>
        <p:spPr>
          <a:xfrm>
            <a:off x="6361024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会话复用三招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15888" y="2441448"/>
            <a:ext cx="347472" cy="347472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7" name="Text 14"/>
          <p:cNvSpPr/>
          <p:nvPr/>
        </p:nvSpPr>
        <p:spPr>
          <a:xfrm>
            <a:off x="6415888" y="2441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73088" y="2414016"/>
            <a:ext cx="4632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保存常用指令为模板，下次直接复用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15888" y="3081528"/>
            <a:ext cx="347472" cy="347472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0" name="Text 17"/>
          <p:cNvSpPr/>
          <p:nvPr/>
        </p:nvSpPr>
        <p:spPr>
          <a:xfrm>
            <a:off x="6415888" y="3081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73088" y="3054096"/>
            <a:ext cx="4632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同一会话延续讨论，不重复输入背景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415888" y="3721608"/>
            <a:ext cx="347472" cy="347472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3" name="Text 20"/>
          <p:cNvSpPr/>
          <p:nvPr/>
        </p:nvSpPr>
        <p:spPr>
          <a:xfrm>
            <a:off x="6415888" y="37216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873088" y="3694176"/>
            <a:ext cx="4632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方向错了果断新开会话，别越聊越偏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7" name="Text 24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提效不是省钱，是让你把时间花在判断上 —— 个人环境放开，产线守住，模板复用。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来源：PPT1 §8 · PPT2 §8/§2.4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 速查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 速查：把模糊指令改写成具体指令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同一件事，改写后输出从"通用"变"可用"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455768" cy="2011680"/>
          </a:xfrm>
          <a:prstGeom prst="roundRect">
            <a:avLst>
              <a:gd name="adj" fmla="val 2727"/>
            </a:avLst>
          </a:prstGeom>
          <a:solidFill>
            <a:srgbClr val="F6ECD8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75104"/>
            <a:ext cx="509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改写前（模糊）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286000"/>
            <a:ext cx="5090008" cy="45720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2286000"/>
            <a:ext cx="4815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帮我排查这个测试机报错。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282696"/>
            <a:ext cx="509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通用排查步骤，没用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33008" y="1865376"/>
            <a:ext cx="5455768" cy="2011680"/>
          </a:xfrm>
          <a:prstGeom prst="roundRect">
            <a:avLst>
              <a:gd name="adj" fmla="val 2727"/>
            </a:avLst>
          </a:prstGeom>
          <a:solidFill>
            <a:srgbClr val="EAF0F6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5888" y="1975104"/>
            <a:ext cx="509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改写后（具体）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15888" y="2286000"/>
            <a:ext cx="5090008" cy="114300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6" name="Text 14"/>
          <p:cNvSpPr/>
          <p:nvPr/>
        </p:nvSpPr>
        <p:spPr>
          <a:xfrm>
            <a:off x="6562192" y="2286000"/>
            <a:ext cx="481568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Accretech 探针台 Pre-DC 测试报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ERR-2041，Wafer 第3次Pass，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Pin: Row A-F Col 1-12，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Log: ./logs/prober_20260726.txt。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请分析高阻 Die 分布，出 Python 散点图。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4059936"/>
            <a:ext cx="11185855" cy="96012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059936"/>
            <a:ext cx="11185855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" y="4059936"/>
            <a:ext cx="1092982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万能公式：五段式（照着填就不会错）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7512" y="4443984"/>
            <a:ext cx="108566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【背景】项目/场景　·　【目标】要什么功能/格式　·　【约束】性能/安全限制　·　【输入】文件在哪　·　【输出】存成什么格式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机台、错误码、坐标、Log 路径全给齐 —— 输出就从"通用答案"变"可用方案"。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来源：PPT2 §6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卡点急救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卡住了？四种常见问题，照着解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实操版 FAQ —— 不讲道理，只给动作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5387188" cy="1417320"/>
          </a:xfrm>
          <a:prstGeom prst="roundRect">
            <a:avLst>
              <a:gd name="adj" fmla="val 38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75104"/>
            <a:ext cx="5387188" cy="54864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121408"/>
            <a:ext cx="50580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装不上 / 启动报错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2468880"/>
            <a:ext cx="50580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1) 查网络能否连公司内网　2) 确认已拿到 Coding 权限　3) 带截图找 CIMICode 维护群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18708" y="1975104"/>
            <a:ext cx="5387188" cy="1417320"/>
          </a:xfrm>
          <a:prstGeom prst="roundRect">
            <a:avLst>
              <a:gd name="adj" fmla="val 38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18708" y="1975104"/>
            <a:ext cx="5387188" cy="54864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14" name="Text 12"/>
          <p:cNvSpPr/>
          <p:nvPr/>
        </p:nvSpPr>
        <p:spPr>
          <a:xfrm>
            <a:off x="6283300" y="2121408"/>
            <a:ext cx="50580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模型回答不准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83300" y="2468880"/>
            <a:ext cx="50580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1) 查 AGENTS.md 是否配好　2) 用 grill-me 先厘清需求　3) 多给上下文：文件路径、错误码、机台型号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621024"/>
            <a:ext cx="5387188" cy="1417320"/>
          </a:xfrm>
          <a:prstGeom prst="roundRect">
            <a:avLst>
              <a:gd name="adj" fmla="val 38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621024"/>
            <a:ext cx="5387188" cy="54864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767328"/>
            <a:ext cx="50580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改来改去卡住了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" y="4114800"/>
            <a:ext cx="50580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1) 进 Plan 模式重新拆解　2) 任务太难就升 Pro　3) 方向错就新开会话重来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18708" y="3621024"/>
            <a:ext cx="5387188" cy="1417320"/>
          </a:xfrm>
          <a:prstGeom prst="roundRect">
            <a:avLst>
              <a:gd name="adj" fmla="val 38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18708" y="3621024"/>
            <a:ext cx="5387188" cy="54864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22" name="Text 20"/>
          <p:cNvSpPr/>
          <p:nvPr/>
        </p:nvSpPr>
        <p:spPr>
          <a:xfrm>
            <a:off x="6283300" y="3767328"/>
            <a:ext cx="50580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 消耗太快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83300" y="4114800"/>
            <a:ext cx="50580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1) 日常任务用 Flash　2) 大文件先脚本提取关键行再喂　3) 别在对话框粘整段 Raw Log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90% 的卡点都是这四类 —— 先按动作清单自查，再找维护群，别在错误里死磕。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来源：PPT1 §九 · PPT2 §11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验收清单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做完这 12 项，你就是"会用了"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逐项打勾 —— 这是本手册的毕业考试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002536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025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" y="2002536"/>
            <a:ext cx="490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 拿到 Coding 权限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24448" y="2002536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4448" y="20025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08496" y="2002536"/>
            <a:ext cx="490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 装好桌面版/TUI 并能启动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14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968" y="2514600"/>
            <a:ext cx="490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 配好 AGENTS.md（模型懂术语）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24448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4448" y="2514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08496" y="2514600"/>
            <a:ext cx="490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 装好 grill-me + web-search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026664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266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6968" y="3026664"/>
            <a:ext cx="490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  打开一个真实项目目录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24448" y="3026664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4448" y="30266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08496" y="3026664"/>
            <a:ext cx="490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6.  跑通一次 Plan → Build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538728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538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6968" y="3538728"/>
            <a:ext cx="490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7.  独立完成实战 A（邮件整理）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24448" y="3538728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24448" y="3538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08496" y="3538728"/>
            <a:ext cx="490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8.  独立完成实战 B（CPK 脚本）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405079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0507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86968" y="4050792"/>
            <a:ext cx="490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9.  独立完成实战 C（SOP）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24448" y="405079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4448" y="40507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08496" y="4050792"/>
            <a:ext cx="490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10.  独立完成实战 D（DOE 矩阵）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4562856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562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86968" y="4562856"/>
            <a:ext cx="490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11.  独立完成实战 E（技术调研）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24448" y="4562856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4448" y="4562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708496" y="4562856"/>
            <a:ext cx="490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12.  知道何时该升高阶模型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46" name="Text 44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全打勾 = 你已经能独立用大模型完成 TD Testing 的典型任务 —— 接下来去 PPT2 学"用好"。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49" name="Text 47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来源：PPT1 §十 扩展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进阶指引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会用了，然后呢？去 PPT2 学"用好"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本手册是起点；进阶看五板斧与团队规范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760720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5760720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504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三份手册的关系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2414016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6F7275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1401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91640" y="241401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入门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241401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开通权限、选界面、懂概念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85800" y="3191256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2F6B4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9125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91640" y="319125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实践（本手册）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31912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照着做，一遍出活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5800" y="3968496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12355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96849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91640" y="396849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进阶 + 团队落地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396849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用好：配置/Prompt/工作流/规范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537960" y="1865376"/>
            <a:ext cx="5150815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1865376"/>
            <a:ext cx="5150815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5" name="Text 23"/>
          <p:cNvSpPr/>
          <p:nvPr/>
        </p:nvSpPr>
        <p:spPr>
          <a:xfrm>
            <a:off x="6665976" y="1865376"/>
            <a:ext cx="489478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进阶方向（PPT2 五板斧）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720840" y="2432304"/>
            <a:ext cx="310896" cy="310896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24323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41464" y="2414016"/>
            <a:ext cx="436443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选对模型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20840" y="2889504"/>
            <a:ext cx="310896" cy="310896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28895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41464" y="2871216"/>
            <a:ext cx="436443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配好 AGENTS.md（分项目）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0840" y="3346704"/>
            <a:ext cx="310896" cy="310896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33" name="Text 31"/>
          <p:cNvSpPr/>
          <p:nvPr/>
        </p:nvSpPr>
        <p:spPr>
          <a:xfrm>
            <a:off x="6720840" y="33467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41464" y="3328416"/>
            <a:ext cx="436443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写好 Prompt（五段式）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20840" y="3803904"/>
            <a:ext cx="310896" cy="310896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36" name="Text 34"/>
          <p:cNvSpPr/>
          <p:nvPr/>
        </p:nvSpPr>
        <p:spPr>
          <a:xfrm>
            <a:off x="6720840" y="38039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41464" y="3785616"/>
            <a:ext cx="436443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用对 Plan-Build + Skill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20840" y="4261104"/>
            <a:ext cx="310896" cy="310896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39" name="Text 37"/>
          <p:cNvSpPr/>
          <p:nvPr/>
        </p:nvSpPr>
        <p:spPr>
          <a:xfrm>
            <a:off x="6720840" y="42611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141464" y="4242816"/>
            <a:ext cx="436443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团队规范：统一配置 + 模板库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20840" y="4791456"/>
            <a:ext cx="4785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把个人最佳实践沉淀成团队标准。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44" name="Text 42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会做 → 会用好 → 带团队用好 —— 三步走完，大模型才真正变成团队生产力。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来源：全篇承接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附录①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附录①：完整 AGENTS.md 模板（直接复制）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存到 ~/.cimi/cimicode/AGENTS.md，改完立即生效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911096"/>
            <a:ext cx="11185855" cy="356616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" y="1911096"/>
            <a:ext cx="10911535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Role &amp; Background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你是一个半导体先进封装 TD Testing 部门的高级测试工程师与自动化专家。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职责：测试 Flow 设计优化 / 机台自动化开发 / 数据分析与可视化 / 报错排查 / 良率溯源与 DOE。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Terminology &amp; Context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Pre-DC: Wafer 减薄/划片/键合前的直流电性测试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CPK: 过程能力指数；Yield: 良率；DOE: 实验设计；SPC: 统计过程控制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SECS/GEM: 半导体设备通讯标准协议；Prober: 探针台；Tester: 测试机；Handler: 分选机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数据格式: CSV / Excel / SQLite / JSON；日志含时间戳、设备ID、错误码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Coding &amp; Response Style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优先 Python + pandas；图表用 matplotlib / plotly；代码必须含健壮异常处理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专业、简洁、结果导向；直接给方案；代码可直接运行；复杂问题分步解释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Safety &amp; Constraints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涉及产线机台操作必须先确认安全步骤；改代码前先备份；不直接删文件先移到备份目录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来源：PPT1 §5.2 + PPT2 §3.2 合并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附录②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附录②：高频 Prompt 模板库（照着改）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把【】里的内容换成你的实际信息即可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455768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模板 1 · 通用五段式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" y="2322576"/>
            <a:ext cx="5163160" cy="260604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322576"/>
            <a:ext cx="48888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【背景】项目/场景、技术栈、已有条件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【目标】要实现什么功能、输出什么格式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【约束】性能 / 兼容性 / 安全限制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【输入】数据/代码/配置文件在哪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【输出】文件格式、保存位置、是否要测试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33008" y="1865376"/>
            <a:ext cx="5455768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3008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5" name="Text 13"/>
          <p:cNvSpPr/>
          <p:nvPr/>
        </p:nvSpPr>
        <p:spPr>
          <a:xfrm>
            <a:off x="6361024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模板 2 · 报错排查（最常用）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79312" y="2322576"/>
            <a:ext cx="5163160" cy="260604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7" name="Text 15"/>
          <p:cNvSpPr/>
          <p:nvPr/>
        </p:nvSpPr>
        <p:spPr>
          <a:xfrm>
            <a:off x="6525616" y="2322576"/>
            <a:ext cx="48888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【机台】Accretech 探针台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【测试】Pre-DC 电性测试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【报错】ERR-2041 Contact Resistance Exceeded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【现象】Wafer 第3次Pass，Pin Row A-F Col 1-12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【Log】./logs/prober_20260726.txt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请分析高阻 Die 分布，生成 Python 散点图。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保存这两个模板，新人提问的起点就是团队的最佳实践 —— 这就是"用好"的第一步。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来源：PPT2 §6.3/§6.4 + 本手册实战汇总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CIMICode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大模型实践落地：新人照着做手册</dc:title>
  <dc:subject>PptxGenJS Presentation</dc:subject>
  <dc:creator>CIMICode TD Testing</dc:creator>
  <cp:lastModifiedBy>CIMICode TD Testing</cp:lastModifiedBy>
  <cp:revision>1</cp:revision>
  <dcterms:created xsi:type="dcterms:W3CDTF">2026-07-26T05:00:26Z</dcterms:created>
  <dcterms:modified xsi:type="dcterms:W3CDTF">2026-07-26T05:00:26Z</dcterms:modified>
</cp:coreProperties>
</file>