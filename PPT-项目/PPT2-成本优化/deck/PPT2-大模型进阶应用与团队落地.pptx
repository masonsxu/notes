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234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CIMICode · 进阶培训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6459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用好大模型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85800" y="26060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CIMICode 进阶应用与团队落地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35204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从"会聊"到"用好"，让团队真正发挥大模型价值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85800" y="4251960"/>
            <a:ext cx="2011680" cy="54864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5897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受众：TL、组内资深工程师    |    讲师：TD Testing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配套：《公司大模型工具使用入门》(PPT1)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导览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从"会聊"到"用好"：三大进阶痛点，五板斧破局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57200" cy="502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1790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团队不缺工具，缺的是"用好"的方法论与规范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865376"/>
            <a:ext cx="4572000" cy="320040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65376"/>
            <a:ext cx="4572000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" y="1865376"/>
            <a:ext cx="4315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团队现状的三大痛点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" y="2432304"/>
            <a:ext cx="365760" cy="365760"/>
          </a:xfrm>
          <a:prstGeom prst="ellipse">
            <a:avLst/>
          </a:prstGeom>
          <a:solidFill>
            <a:srgbClr val="9E2B25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432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79576" y="2368296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E2B2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输出不稳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79576" y="26791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没配背景/术语，大模型望文生义，反复返工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" y="3273552"/>
            <a:ext cx="365760" cy="365760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2735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79576" y="3209544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5651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重复造轮子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79576" y="3520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每个人各写各的 Prompt，经验无法沉淀复用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" y="4114800"/>
            <a:ext cx="365760" cy="365760"/>
          </a:xfrm>
          <a:prstGeom prst="ellipse">
            <a:avLst/>
          </a:prstGeom>
          <a:solidFill>
            <a:srgbClr val="6F7275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114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79576" y="4050792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水平参差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79576" y="436168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新人不会问、老人不会教，团队能力断层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49240" y="1865376"/>
            <a:ext cx="6339535" cy="320040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49240" y="1865376"/>
            <a:ext cx="6339535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25" name="Text 23"/>
          <p:cNvSpPr/>
          <p:nvPr/>
        </p:nvSpPr>
        <p:spPr>
          <a:xfrm>
            <a:off x="5477256" y="1865376"/>
            <a:ext cx="608350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本课五板斧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532120" y="2377440"/>
            <a:ext cx="310896" cy="310896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27" name="Text 25"/>
          <p:cNvSpPr/>
          <p:nvPr/>
        </p:nvSpPr>
        <p:spPr>
          <a:xfrm>
            <a:off x="5532120" y="23774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89320" y="2368296"/>
            <a:ext cx="551657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选对模型（按任务选型）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82996" y="2679192"/>
            <a:ext cx="18288" cy="201168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30" name="Shape 28"/>
          <p:cNvSpPr/>
          <p:nvPr/>
        </p:nvSpPr>
        <p:spPr>
          <a:xfrm>
            <a:off x="5532120" y="2889504"/>
            <a:ext cx="310896" cy="310896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31" name="Text 29"/>
          <p:cNvSpPr/>
          <p:nvPr/>
        </p:nvSpPr>
        <p:spPr>
          <a:xfrm>
            <a:off x="5532120" y="28895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989320" y="2880360"/>
            <a:ext cx="551657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配好 AGENTS.md（人设与术语）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682996" y="3191256"/>
            <a:ext cx="18288" cy="201168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34" name="Shape 32"/>
          <p:cNvSpPr/>
          <p:nvPr/>
        </p:nvSpPr>
        <p:spPr>
          <a:xfrm>
            <a:off x="5532120" y="3401568"/>
            <a:ext cx="310896" cy="310896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35" name="Text 33"/>
          <p:cNvSpPr/>
          <p:nvPr/>
        </p:nvSpPr>
        <p:spPr>
          <a:xfrm>
            <a:off x="5532120" y="34015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989320" y="3392424"/>
            <a:ext cx="551657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写好 Prompt（具体 + 结构化）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682996" y="3703320"/>
            <a:ext cx="18288" cy="201168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38" name="Shape 36"/>
          <p:cNvSpPr/>
          <p:nvPr/>
        </p:nvSpPr>
        <p:spPr>
          <a:xfrm>
            <a:off x="5532120" y="3913632"/>
            <a:ext cx="310896" cy="310896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39" name="Text 37"/>
          <p:cNvSpPr/>
          <p:nvPr/>
        </p:nvSpPr>
        <p:spPr>
          <a:xfrm>
            <a:off x="5532120" y="39136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989320" y="3904488"/>
            <a:ext cx="551657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④ 用对工作流与工具（Plan-Build + Skill）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682996" y="4215384"/>
            <a:ext cx="18288" cy="201168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42" name="Shape 40"/>
          <p:cNvSpPr/>
          <p:nvPr/>
        </p:nvSpPr>
        <p:spPr>
          <a:xfrm>
            <a:off x="5532120" y="4425696"/>
            <a:ext cx="310896" cy="310896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43" name="Text 41"/>
          <p:cNvSpPr/>
          <p:nvPr/>
        </p:nvSpPr>
        <p:spPr>
          <a:xfrm>
            <a:off x="5532120" y="44256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989320" y="4416552"/>
            <a:ext cx="551657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⑤ 团队规范落地（统一配置 + 复用）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532120" y="4956048"/>
            <a:ext cx="5973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← 基础入门见 PPT1《公司大模型工具使用入门》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502920" y="5449824"/>
            <a:ext cx="11185855" cy="749808"/>
          </a:xfrm>
          <a:prstGeom prst="rect">
            <a:avLst/>
          </a:prstGeom>
          <a:solidFill>
            <a:srgbClr val="EAF0F6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02920" y="5449824"/>
            <a:ext cx="64008" cy="749808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48" name="Text 46"/>
          <p:cNvSpPr/>
          <p:nvPr/>
        </p:nvSpPr>
        <p:spPr>
          <a:xfrm>
            <a:off x="722376" y="55229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本课目标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22376" y="576072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用五板斧 + 团队规范，把"个人会用"升级成"团队用好"，让大模型真正成为生产力。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51" name="Text 49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来源：PPT2 进阶内容重组（§3-§9）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板斧① 选对模型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按任务选模型：简单归 Flash、复杂归高阶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57200" cy="502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1790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选对模型是用好的第一步 —— 够用即可，不盲目上高阶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75104"/>
          <a:ext cx="7680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280160"/>
                <a:gridCol w="40233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任务类型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推荐模型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理由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55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简单文本整理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Flash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速度优先，快速完成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代码草稿编写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Flash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快速迭代，响应快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Log 解析（简单）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Flash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格式转换类，Flash 足够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复杂 Bug 排查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Pro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需深度推理、多步分析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架构设计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Pro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需全局思考与权衡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长篇 SOP 编写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GLM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长文本生成能力强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海量文档对比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Kimi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超长上下文支持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366760" y="1975104"/>
            <a:ext cx="3322015" cy="3090672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366760" y="1975104"/>
            <a:ext cx="3322015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1" name="Text 8"/>
          <p:cNvSpPr/>
          <p:nvPr/>
        </p:nvSpPr>
        <p:spPr>
          <a:xfrm>
            <a:off x="8494776" y="1975104"/>
            <a:ext cx="306598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何时升高阶？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549640" y="2414016"/>
            <a:ext cx="2956255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2F6B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默认：Flash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
</a:t>
            </a:r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B5651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触发切换：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多次改代码仍未解决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逻辑推理陷入死循环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长文档 / 海量对比任务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02920" y="5449824"/>
            <a:ext cx="11185855" cy="749808"/>
          </a:xfrm>
          <a:prstGeom prst="rect">
            <a:avLst/>
          </a:prstGeom>
          <a:solidFill>
            <a:srgbClr val="EAF0F6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2920" y="5449824"/>
            <a:ext cx="64008" cy="749808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15" name="Text 12"/>
          <p:cNvSpPr/>
          <p:nvPr/>
        </p:nvSpPr>
        <p:spPr>
          <a:xfrm>
            <a:off x="722376" y="55229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 WHAT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22376" y="576072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选型不是"越强越好" —— 把深度推理能力留给真正复杂的任务，日常交给 Flash 快速完成。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18" name="Text 15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来源：模型选择策略（§1.3 / §2.1）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板斧② 配好 AGENTS.md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AGENTS.md 让大模型秒懂半导体专业语义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57200" cy="502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1790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消歧义 + 完整四段模板，从第一次响应就理解术语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865376"/>
            <a:ext cx="4846320" cy="320040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65376"/>
            <a:ext cx="4846320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" y="1865376"/>
            <a:ext cx="45902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消歧义：通用 vs 专业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" y="2322576"/>
          <a:ext cx="455371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188720"/>
                <a:gridCol w="2267712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术语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通用理解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半导体专业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55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Bump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碰撞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微凸块，芯片互连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Probe Card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探测卡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探针卡，晶圆测试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Yield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产量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良率，合格品比例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Pre-DC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预直流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键合前电性测试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SECS/GEM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无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设备通讯标准协议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623560" y="1865376"/>
            <a:ext cx="6065215" cy="320040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23560" y="1865376"/>
            <a:ext cx="6065215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4" name="Text 11"/>
          <p:cNvSpPr/>
          <p:nvPr/>
        </p:nvSpPr>
        <p:spPr>
          <a:xfrm>
            <a:off x="5751576" y="1865376"/>
            <a:ext cx="580918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完整配置模板（四段）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769864" y="2322576"/>
            <a:ext cx="5772607" cy="2240280"/>
          </a:xfrm>
          <a:prstGeom prst="rect">
            <a:avLst/>
          </a:prstGeom>
          <a:solidFill>
            <a:srgbClr val="1A2330"/>
          </a:solidFill>
          <a:ln/>
        </p:spPr>
      </p:sp>
      <p:sp>
        <p:nvSpPr>
          <p:cNvPr id="16" name="Text 13"/>
          <p:cNvSpPr/>
          <p:nvPr/>
        </p:nvSpPr>
        <p:spPr>
          <a:xfrm>
            <a:off x="5916168" y="2322576"/>
            <a:ext cx="5498287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Role &amp; Background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半导体先进封装 TD Testing 高级测试工程师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（测试 Flow / 自动化 / 数据分析 / 报错排查）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Terminology &amp; Context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Pre-DC / CPK / Yield / DOE / SECS-GEM / Prober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Coding &amp; Response Style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优先 Python + pandas，异常处理健壮，结果导向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Safety &amp; Constraints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产线操作先确认安全步骤，改动前先备份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769864" y="4626864"/>
            <a:ext cx="577260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路径：~/.cimi/cimicode/AGENTS.md（一次配置，永久生效）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502920" y="5449824"/>
            <a:ext cx="11185855" cy="749808"/>
          </a:xfrm>
          <a:prstGeom prst="rect">
            <a:avLst/>
          </a:prstGeom>
          <a:solidFill>
            <a:srgbClr val="EAF0F6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2920" y="5449824"/>
            <a:ext cx="64008" cy="749808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20" name="Text 17"/>
          <p:cNvSpPr/>
          <p:nvPr/>
        </p:nvSpPr>
        <p:spPr>
          <a:xfrm>
            <a:off x="722376" y="55229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 WHAT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22376" y="576072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术语消歧义直接降低误判率 —— 配好专业背景，大模型不再"望文生义"，输出一次到位。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23" name="Text 20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来源：AGENTS.md 高级配置（§3.1 / §3.2）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板斧② 配好 AGENTS.md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全局 + 项目级双层配置，兼顾通用与专用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57200" cy="502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1790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一套全局打底，每个项目再叠加专用上下文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865376"/>
            <a:ext cx="4937760" cy="320040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65376"/>
            <a:ext cx="4937760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" y="1865376"/>
            <a:ext cx="46817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配置目录结构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5800" y="2368296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~/.cimi/cimicode/AGENTS.md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└ 全局配置（对所有项目生效）
</a:t>
            </a:r>
            <a:pPr indent="0" marL="0">
              <a:lnSpc>
                <a:spcPct val="1200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
</a:t>
            </a:r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&lt;项目目录&gt;/AGENTS.md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└ 项目级配置（仅对该项目生效）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387705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B5651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优先级：项目级 &gt; 全局（同名内容项目级覆盖）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715000" y="1865376"/>
            <a:ext cx="5973775" cy="320040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15000" y="1865376"/>
            <a:ext cx="5973775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5" name="Text 13"/>
          <p:cNvSpPr/>
          <p:nvPr/>
        </p:nvSpPr>
        <p:spPr>
          <a:xfrm>
            <a:off x="5843016" y="1865376"/>
            <a:ext cx="571774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项目级配置示例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861304" y="2322576"/>
            <a:ext cx="5681167" cy="2194560"/>
          </a:xfrm>
          <a:prstGeom prst="rect">
            <a:avLst/>
          </a:prstGeom>
          <a:solidFill>
            <a:srgbClr val="1A2330"/>
          </a:solidFill>
          <a:ln/>
        </p:spPr>
      </p:sp>
      <p:sp>
        <p:nvSpPr>
          <p:cNvPr id="17" name="Text 15"/>
          <p:cNvSpPr/>
          <p:nvPr/>
        </p:nvSpPr>
        <p:spPr>
          <a:xfrm>
            <a:off x="6007608" y="2322576"/>
            <a:ext cx="5406847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Project-Specific Context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## 项目信息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项目名称: XXX 产品 Pre-DC 测试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测试机型: Accretech Prober + Advantest Tester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测试项目: Contact Resistance, Leakage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## 数据目录结构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./logs/ 原始 Log    ./data/ 处理后数据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./scripts/ 脚本    ./reports/ 报告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## 特殊要求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所有脚本支持 UTF-8，时间戳统一 UTC+8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61304" y="4590288"/>
            <a:ext cx="568116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项目级让大模型知道"这次具体测什么、数据放哪"。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502920" y="5449824"/>
            <a:ext cx="11185855" cy="749808"/>
          </a:xfrm>
          <a:prstGeom prst="rect">
            <a:avLst/>
          </a:prstGeom>
          <a:solidFill>
            <a:srgbClr val="EAF0F6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5449824"/>
            <a:ext cx="64008" cy="749808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" y="55229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 WHAT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2376" y="576072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全局打底 + 项目叠加 —— 通用规范一次写好，项目细节随用随加，团队配置不再各写各的。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来源：分项目配置（§3.3）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板斧③ 写好 Prompt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信息越具体，输出越准确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57200" cy="502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1790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Prompt 黄金法则 —— 模糊指令得通用答案，具体指令得可用结果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865376"/>
            <a:ext cx="5455768" cy="3200400"/>
          </a:xfrm>
          <a:prstGeom prst="roundRect">
            <a:avLst>
              <a:gd name="adj" fmla="val 1714"/>
            </a:avLst>
          </a:prstGeom>
          <a:solidFill>
            <a:srgbClr val="F6ECD8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975104"/>
            <a:ext cx="5090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5651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✗ 模糊（效果差）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322576"/>
            <a:ext cx="5090008" cy="548640"/>
          </a:xfrm>
          <a:prstGeom prst="rect">
            <a:avLst/>
          </a:prstGeom>
          <a:solidFill>
            <a:srgbClr val="1A2330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" y="2322576"/>
            <a:ext cx="48156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 帮我排查这个测试机报错。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2962656"/>
            <a:ext cx="5090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E2B2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问题：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3218688"/>
            <a:ext cx="50900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不知道机台型号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不知道 Log 位置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不知道测试项与现象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4379976"/>
            <a:ext cx="5090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输出：通用排查步骤，不具针对性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33008" y="1865376"/>
            <a:ext cx="5455768" cy="3200400"/>
          </a:xfrm>
          <a:prstGeom prst="roundRect">
            <a:avLst>
              <a:gd name="adj" fmla="val 1714"/>
            </a:avLst>
          </a:prstGeom>
          <a:solidFill>
            <a:srgbClr val="EAF0F6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5888" y="1975104"/>
            <a:ext cx="5090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6B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具体（效果极佳）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15888" y="2322576"/>
            <a:ext cx="5090008" cy="1188720"/>
          </a:xfrm>
          <a:prstGeom prst="rect">
            <a:avLst/>
          </a:prstGeom>
          <a:solidFill>
            <a:srgbClr val="1A2330"/>
          </a:solidFill>
          <a:ln/>
        </p:spPr>
      </p:sp>
      <p:sp>
        <p:nvSpPr>
          <p:cNvPr id="18" name="Text 16"/>
          <p:cNvSpPr/>
          <p:nvPr/>
        </p:nvSpPr>
        <p:spPr>
          <a:xfrm>
            <a:off x="6562192" y="2322576"/>
            <a:ext cx="481568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 Accretech 探针台 Pre-DC 测试报 ERR-2041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Contact Resistance Exceeded。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Wafer 第3次Pass，Pin: Row A-F Col 1-12，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Log: ./logs/prober_20260726.txt。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请分析 ERR-2041 前后 Pin 坐标，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识别高阻 Die 分布，生成 Python 散点图。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15888" y="4517136"/>
            <a:ext cx="5090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2F6B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输出：针对性分析脚本，直接可用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5449824"/>
            <a:ext cx="11185855" cy="749808"/>
          </a:xfrm>
          <a:prstGeom prst="rect">
            <a:avLst/>
          </a:prstGeom>
          <a:solidFill>
            <a:srgbClr val="EAF0F6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5449824"/>
            <a:ext cx="64008" cy="749808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22" name="Text 20"/>
          <p:cNvSpPr/>
          <p:nvPr/>
        </p:nvSpPr>
        <p:spPr>
          <a:xfrm>
            <a:off x="722376" y="55229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 WHAT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2376" y="576072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把机台、错误码、坐标范围、Log 路径都给全 —— 大模型才能从"通用答案"升级到"可直接用的方案"。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来源：Prompt 工程（§6.1 / §6.2）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板斧③ 写好 Prompt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用"背景/目标/约束/输入/输出"五段式框架提问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57200" cy="502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1790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结构化 Prompt 模板 + 3 个优化技巧，团队统一提问方式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865376"/>
            <a:ext cx="6400800" cy="320040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65376"/>
            <a:ext cx="6400800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" y="1865376"/>
            <a:ext cx="6144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结构化 Prompt 五段式模板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9224" y="2368296"/>
            <a:ext cx="1005840" cy="365760"/>
          </a:xfrm>
          <a:prstGeom prst="roundRect">
            <a:avLst>
              <a:gd name="adj" fmla="val 10000"/>
            </a:avLst>
          </a:prstGeom>
          <a:solidFill>
            <a:srgbClr val="12355B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" y="2368296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【背景】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46504" y="2368296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项目/场景描述、技术栈、已有条件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9224" y="2825496"/>
            <a:ext cx="1005840" cy="365760"/>
          </a:xfrm>
          <a:prstGeom prst="roundRect">
            <a:avLst>
              <a:gd name="adj" fmla="val 10000"/>
            </a:avLst>
          </a:prstGeom>
          <a:solidFill>
            <a:srgbClr val="12355B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" y="2825496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【目标】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46504" y="2825496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期望功能、输出格式要求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9224" y="3282696"/>
            <a:ext cx="1005840" cy="365760"/>
          </a:xfrm>
          <a:prstGeom prst="roundRect">
            <a:avLst>
              <a:gd name="adj" fmla="val 10000"/>
            </a:avLst>
          </a:prstGeom>
          <a:solidFill>
            <a:srgbClr val="12355B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" y="3282696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【约束】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46504" y="3282696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性能、兼容性、安全限制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9224" y="3739896"/>
            <a:ext cx="1005840" cy="365760"/>
          </a:xfrm>
          <a:prstGeom prst="roundRect">
            <a:avLst>
              <a:gd name="adj" fmla="val 10000"/>
            </a:avLst>
          </a:prstGeom>
          <a:solidFill>
            <a:srgbClr val="12355B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" y="3739896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【输入】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46504" y="3739896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数据/代码/配置文件位置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9224" y="4197096"/>
            <a:ext cx="1005840" cy="365760"/>
          </a:xfrm>
          <a:prstGeom prst="roundRect">
            <a:avLst>
              <a:gd name="adj" fmla="val 10000"/>
            </a:avLst>
          </a:prstGeom>
          <a:solidFill>
            <a:srgbClr val="12355B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" y="4197096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【输出】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746504" y="4197096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文件格式、保存位置、是否测试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178040" y="1865376"/>
            <a:ext cx="4510735" cy="320040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78040" y="1865376"/>
            <a:ext cx="4510735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28" name="Text 26"/>
          <p:cNvSpPr/>
          <p:nvPr/>
        </p:nvSpPr>
        <p:spPr>
          <a:xfrm>
            <a:off x="7306056" y="1865376"/>
            <a:ext cx="425470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个优化技巧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360920" y="2441448"/>
            <a:ext cx="365760" cy="365760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30" name="Text 28"/>
          <p:cNvSpPr/>
          <p:nvPr/>
        </p:nvSpPr>
        <p:spPr>
          <a:xfrm>
            <a:off x="7360920" y="24414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854696" y="2414016"/>
            <a:ext cx="368777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提供示例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854696" y="2706624"/>
            <a:ext cx="3687775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给一行期望格式，模型照着输出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360920" y="3218688"/>
            <a:ext cx="365760" cy="365760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34" name="Text 32"/>
          <p:cNvSpPr/>
          <p:nvPr/>
        </p:nvSpPr>
        <p:spPr>
          <a:xfrm>
            <a:off x="7360920" y="32186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854696" y="3191256"/>
            <a:ext cx="368777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分步骤指令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854696" y="3483864"/>
            <a:ext cx="3687775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先读→筛选→统计→导出，逐步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360920" y="3995928"/>
            <a:ext cx="365760" cy="365760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38" name="Text 36"/>
          <p:cNvSpPr/>
          <p:nvPr/>
        </p:nvSpPr>
        <p:spPr>
          <a:xfrm>
            <a:off x="7360920" y="3995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854696" y="3968496"/>
            <a:ext cx="368777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明确输出格式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854696" y="4261104"/>
            <a:ext cx="3687775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脚本语言、库、文件名一次说清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02920" y="5449824"/>
            <a:ext cx="11185855" cy="749808"/>
          </a:xfrm>
          <a:prstGeom prst="rect">
            <a:avLst/>
          </a:prstGeom>
          <a:solidFill>
            <a:srgbClr val="EAF0F6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5449824"/>
            <a:ext cx="64008" cy="749808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43" name="Text 41"/>
          <p:cNvSpPr/>
          <p:nvPr/>
        </p:nvSpPr>
        <p:spPr>
          <a:xfrm>
            <a:off x="722376" y="55229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 WHAT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22376" y="576072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五段式是可复用的提问框架 —— 团队统一用它，输出质量与一致性都能稳定提升。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46" name="Text 44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来源：Prompt 优化技巧（§6.3 / §6.4）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板斧④ 工作流与工具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Plan 5 步规划审核，Build 自动落地执行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57200" cy="502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1790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复杂项目先规划架构、拆任务、评估风险，再执行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956816"/>
            <a:ext cx="2164019" cy="640080"/>
          </a:xfrm>
          <a:prstGeom prst="roundRect">
            <a:avLst>
              <a:gd name="adj" fmla="val 7143"/>
            </a:avLst>
          </a:prstGeom>
          <a:solidFill>
            <a:srgbClr val="EAF0F6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56816"/>
            <a:ext cx="216401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 理解需求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 rot="5400000">
            <a:off x="2676083" y="2194560"/>
            <a:ext cx="73152" cy="164592"/>
          </a:xfrm>
          <a:prstGeom prst="rightTriangle">
            <a:avLst/>
          </a:prstGeom>
          <a:solidFill>
            <a:srgbClr val="12355B"/>
          </a:solidFill>
          <a:ln/>
        </p:spPr>
      </p:sp>
      <p:sp>
        <p:nvSpPr>
          <p:cNvPr id="11" name="Shape 9"/>
          <p:cNvSpPr/>
          <p:nvPr/>
        </p:nvSpPr>
        <p:spPr>
          <a:xfrm>
            <a:off x="2758379" y="1956816"/>
            <a:ext cx="2164019" cy="640080"/>
          </a:xfrm>
          <a:prstGeom prst="roundRect">
            <a:avLst>
              <a:gd name="adj" fmla="val 7143"/>
            </a:avLst>
          </a:prstGeom>
          <a:solidFill>
            <a:srgbClr val="EAF0F6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58379" y="1956816"/>
            <a:ext cx="216401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 拆解任务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 rot="5400000">
            <a:off x="4931542" y="2194560"/>
            <a:ext cx="73152" cy="164592"/>
          </a:xfrm>
          <a:prstGeom prst="rightTriangle">
            <a:avLst/>
          </a:prstGeom>
          <a:solidFill>
            <a:srgbClr val="12355B"/>
          </a:solidFill>
          <a:ln/>
        </p:spPr>
      </p:sp>
      <p:sp>
        <p:nvSpPr>
          <p:cNvPr id="14" name="Shape 12"/>
          <p:cNvSpPr/>
          <p:nvPr/>
        </p:nvSpPr>
        <p:spPr>
          <a:xfrm>
            <a:off x="5013838" y="1956816"/>
            <a:ext cx="2164019" cy="640080"/>
          </a:xfrm>
          <a:prstGeom prst="roundRect">
            <a:avLst>
              <a:gd name="adj" fmla="val 7143"/>
            </a:avLst>
          </a:prstGeom>
          <a:solidFill>
            <a:srgbClr val="EAF0F6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13838" y="1956816"/>
            <a:ext cx="216401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设计架构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 rot="5400000">
            <a:off x="7187001" y="2194560"/>
            <a:ext cx="73152" cy="164592"/>
          </a:xfrm>
          <a:prstGeom prst="rightTriangle">
            <a:avLst/>
          </a:prstGeom>
          <a:solidFill>
            <a:srgbClr val="12355B"/>
          </a:solidFill>
          <a:ln/>
        </p:spPr>
      </p:sp>
      <p:sp>
        <p:nvSpPr>
          <p:cNvPr id="17" name="Shape 15"/>
          <p:cNvSpPr/>
          <p:nvPr/>
        </p:nvSpPr>
        <p:spPr>
          <a:xfrm>
            <a:off x="7269297" y="1956816"/>
            <a:ext cx="2164019" cy="640080"/>
          </a:xfrm>
          <a:prstGeom prst="roundRect">
            <a:avLst>
              <a:gd name="adj" fmla="val 7143"/>
            </a:avLst>
          </a:prstGeom>
          <a:solidFill>
            <a:srgbClr val="EAF0F6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69297" y="1956816"/>
            <a:ext cx="216401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 评估风险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 rot="5400000">
            <a:off x="9442460" y="2194560"/>
            <a:ext cx="73152" cy="164592"/>
          </a:xfrm>
          <a:prstGeom prst="rightTriangle">
            <a:avLst/>
          </a:prstGeom>
          <a:solidFill>
            <a:srgbClr val="12355B"/>
          </a:solidFill>
          <a:ln/>
        </p:spPr>
      </p:sp>
      <p:sp>
        <p:nvSpPr>
          <p:cNvPr id="20" name="Shape 18"/>
          <p:cNvSpPr/>
          <p:nvPr/>
        </p:nvSpPr>
        <p:spPr>
          <a:xfrm>
            <a:off x="9524756" y="1956816"/>
            <a:ext cx="2164019" cy="640080"/>
          </a:xfrm>
          <a:prstGeom prst="roundRect">
            <a:avLst>
              <a:gd name="adj" fmla="val 7143"/>
            </a:avLst>
          </a:prstGeom>
          <a:solidFill>
            <a:srgbClr val="12355B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24756" y="1956816"/>
            <a:ext cx="216401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 生成 TODO.md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2688336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5651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↓ 工程师审核 Plan：通过 → Build；有问题 → 回 Plan 修改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099816"/>
            <a:ext cx="6675120" cy="196596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3099816"/>
            <a:ext cx="6675120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" y="3099816"/>
            <a:ext cx="64190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Plan 产物：TODO.md 示例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9224" y="3493008"/>
            <a:ext cx="6382512" cy="1508760"/>
          </a:xfrm>
          <a:prstGeom prst="rect">
            <a:avLst/>
          </a:prstGeom>
          <a:solidFill>
            <a:srgbClr val="1A2330"/>
          </a:solidFill>
          <a:ln/>
        </p:spPr>
      </p:sp>
      <p:sp>
        <p:nvSpPr>
          <p:cNvPr id="27" name="Text 25"/>
          <p:cNvSpPr/>
          <p:nvPr/>
        </p:nvSpPr>
        <p:spPr>
          <a:xfrm>
            <a:off x="795528" y="3493008"/>
            <a:ext cx="6108192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测试数据自动化分析平台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## 架构: pandas + SQLAlchemy / matplotlib / HTML+PDF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## Phase 1 基础框架(2天): 目录结构 / 数据加载 / 统计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## Phase 2 可视化(2天): CPK 趋势 / Yield 分布 / 异常标记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## Phase 3 报告(1天): HTML 模板 / PDF 导出 / 历史对比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## 风险: 数据格式不一致 → 需清洗层；大数据量 → 分块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452360" y="3099816"/>
            <a:ext cx="4236415" cy="196596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52360" y="3099816"/>
            <a:ext cx="4236415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30" name="Text 28"/>
          <p:cNvSpPr/>
          <p:nvPr/>
        </p:nvSpPr>
        <p:spPr>
          <a:xfrm>
            <a:off x="7580376" y="3099816"/>
            <a:ext cx="398038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加速开发三技巧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635240" y="3529584"/>
            <a:ext cx="387065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▸ 并行任务拆解（独立模块并行）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635240" y="3986784"/>
            <a:ext cx="387065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▸ 增量式开发（先 MVP 后扩展）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635240" y="4443984"/>
            <a:ext cx="387065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▸ 代码复用（参考已有模块风格）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" y="5449824"/>
            <a:ext cx="11185855" cy="749808"/>
          </a:xfrm>
          <a:prstGeom prst="rect">
            <a:avLst/>
          </a:prstGeom>
          <a:solidFill>
            <a:srgbClr val="EAF0F6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5449824"/>
            <a:ext cx="64008" cy="749808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36" name="Text 34"/>
          <p:cNvSpPr/>
          <p:nvPr/>
        </p:nvSpPr>
        <p:spPr>
          <a:xfrm>
            <a:off x="722376" y="55229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 WHAT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22376" y="576072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Plan 让"做不做、怎么做"先想清楚 —— 减少返工，复杂项目也能稳步推进，团队协作更高效。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来源：Plan-Build 高级工作流（§4.1 / §4.2 / §4.4）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板斧④ 工作流与工具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Grill-Me 厘清需求，Web Search 补时效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57200" cy="502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1790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两个 Skill 让团队提问不卡壳、信息不过期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865376"/>
            <a:ext cx="5455768" cy="320040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65376"/>
            <a:ext cx="5455768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" y="1865376"/>
            <a:ext cx="5199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Grill-Me · 5 类反问厘清需求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9224" y="2368296"/>
            <a:ext cx="5163160" cy="329184"/>
          </a:xfrm>
          <a:prstGeom prst="roundRect">
            <a:avLst>
              <a:gd name="adj" fmla="val 13889"/>
            </a:avLst>
          </a:prstGeom>
          <a:solidFill>
            <a:srgbClr val="FCFBF5"/>
          </a:solidFill>
          <a:ln w="6350">
            <a:solidFill>
              <a:srgbClr val="DCE5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0664" y="2368296"/>
            <a:ext cx="4998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 Log 文件格式是什么？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9224" y="2779776"/>
            <a:ext cx="5163160" cy="329184"/>
          </a:xfrm>
          <a:prstGeom prst="roundRect">
            <a:avLst>
              <a:gd name="adj" fmla="val 13889"/>
            </a:avLst>
          </a:prstGeom>
          <a:solidFill>
            <a:srgbClr val="EAF0F6"/>
          </a:solidFill>
          <a:ln w="6350">
            <a:solidFill>
              <a:srgbClr val="DCE5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" y="2779776"/>
            <a:ext cx="4998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 要提取哪些关键字段？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9224" y="3191256"/>
            <a:ext cx="5163160" cy="329184"/>
          </a:xfrm>
          <a:prstGeom prst="roundRect">
            <a:avLst>
              <a:gd name="adj" fmla="val 13889"/>
            </a:avLst>
          </a:prstGeom>
          <a:solidFill>
            <a:srgbClr val="FCFBF5"/>
          </a:solidFill>
          <a:ln w="6350">
            <a:solidFill>
              <a:srgbClr val="DCE5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" y="3191256"/>
            <a:ext cx="4998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 输出格式要求？（CSV/Excel/JSON）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9224" y="3602736"/>
            <a:ext cx="5163160" cy="329184"/>
          </a:xfrm>
          <a:prstGeom prst="roundRect">
            <a:avLst>
              <a:gd name="adj" fmla="val 13889"/>
            </a:avLst>
          </a:prstGeom>
          <a:solidFill>
            <a:srgbClr val="EAF0F6"/>
          </a:solidFill>
          <a:ln w="6350">
            <a:solidFill>
              <a:srgbClr val="DCE5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" y="3602736"/>
            <a:ext cx="4998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4. 是否需要统计分析？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9224" y="4014216"/>
            <a:ext cx="5163160" cy="329184"/>
          </a:xfrm>
          <a:prstGeom prst="roundRect">
            <a:avLst>
              <a:gd name="adj" fmla="val 13889"/>
            </a:avLst>
          </a:prstGeom>
          <a:solidFill>
            <a:srgbClr val="FCFBF5"/>
          </a:solidFill>
          <a:ln w="6350">
            <a:solidFill>
              <a:srgbClr val="DCE5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664" y="4014216"/>
            <a:ext cx="4998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5. 是否需要可视化？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9224" y="4562856"/>
            <a:ext cx="5163160" cy="411480"/>
          </a:xfrm>
          <a:prstGeom prst="rect">
            <a:avLst/>
          </a:prstGeom>
          <a:solidFill>
            <a:srgbClr val="1A2330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" y="4562856"/>
            <a:ext cx="488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/install-skill grill-me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33008" y="1865376"/>
            <a:ext cx="5455768" cy="320040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33008" y="1865376"/>
            <a:ext cx="5455768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25" name="Text 23"/>
          <p:cNvSpPr/>
          <p:nvPr/>
        </p:nvSpPr>
        <p:spPr>
          <a:xfrm>
            <a:off x="6361024" y="1865376"/>
            <a:ext cx="5199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Web Search · 4 大场景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379312" y="2368296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12355B"/>
          </a:solidFill>
          <a:ln/>
        </p:spPr>
      </p:sp>
      <p:sp>
        <p:nvSpPr>
          <p:cNvPr id="27" name="Text 25"/>
          <p:cNvSpPr/>
          <p:nvPr/>
        </p:nvSpPr>
        <p:spPr>
          <a:xfrm>
            <a:off x="6379312" y="236829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API 文档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833208" y="2368296"/>
            <a:ext cx="3718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查最新库版本（如 pysecsgem）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79312" y="2825496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12355B"/>
          </a:solidFill>
          <a:ln/>
        </p:spPr>
      </p:sp>
      <p:sp>
        <p:nvSpPr>
          <p:cNvPr id="30" name="Text 28"/>
          <p:cNvSpPr/>
          <p:nvPr/>
        </p:nvSpPr>
        <p:spPr>
          <a:xfrm>
            <a:off x="6379312" y="282549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方案调研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833208" y="2825496"/>
            <a:ext cx="3718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行业最佳实践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79312" y="3282696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12355B"/>
          </a:solidFill>
          <a:ln/>
        </p:spPr>
      </p:sp>
      <p:sp>
        <p:nvSpPr>
          <p:cNvPr id="33" name="Text 31"/>
          <p:cNvSpPr/>
          <p:nvPr/>
        </p:nvSpPr>
        <p:spPr>
          <a:xfrm>
            <a:off x="6379312" y="328269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问题排查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833208" y="3282696"/>
            <a:ext cx="3718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类似报错的解决方案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79312" y="3739896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12355B"/>
          </a:solidFill>
          <a:ln/>
        </p:spPr>
      </p:sp>
      <p:sp>
        <p:nvSpPr>
          <p:cNvPr id="36" name="Text 34"/>
          <p:cNvSpPr/>
          <p:nvPr/>
        </p:nvSpPr>
        <p:spPr>
          <a:xfrm>
            <a:off x="6379312" y="373989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标准查询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833208" y="3739896"/>
            <a:ext cx="3718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JEDEC 等标准更新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79312" y="4379976"/>
            <a:ext cx="516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i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其他 Skill：auto-approve（自动执行）、code-review（代码审查）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379312" y="4882896"/>
            <a:ext cx="5163160" cy="411480"/>
          </a:xfrm>
          <a:prstGeom prst="rect">
            <a:avLst/>
          </a:prstGeom>
          <a:solidFill>
            <a:srgbClr val="1A2330"/>
          </a:solidFill>
          <a:ln/>
        </p:spPr>
      </p:sp>
      <p:sp>
        <p:nvSpPr>
          <p:cNvPr id="40" name="Text 38"/>
          <p:cNvSpPr/>
          <p:nvPr/>
        </p:nvSpPr>
        <p:spPr>
          <a:xfrm>
            <a:off x="6525616" y="4882896"/>
            <a:ext cx="488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/install-skill web-search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02920" y="5449824"/>
            <a:ext cx="11185855" cy="749808"/>
          </a:xfrm>
          <a:prstGeom prst="rect">
            <a:avLst/>
          </a:prstGeom>
          <a:solidFill>
            <a:srgbClr val="EAF0F6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5449824"/>
            <a:ext cx="64008" cy="749808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43" name="Text 41"/>
          <p:cNvSpPr/>
          <p:nvPr/>
        </p:nvSpPr>
        <p:spPr>
          <a:xfrm>
            <a:off x="722376" y="55229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 WHAT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22376" y="576072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Grill-Me 把"模糊需求"变"完整需求"，Web Search 把"过时知识"变"最新信息" —— 双 Skill 让团队用好工具。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46" name="Text 44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来源：Skill 高级配置（§5.1 / §5.2 / §5.3）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场景实战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喂对数据，让大模型设计可执行 DOE 实验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57200" cy="502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1790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数据输入 3 方式 + DOE 实验设计流程 + 因子矩阵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865376"/>
            <a:ext cx="4206240" cy="320040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65376"/>
            <a:ext cx="4206240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" y="1865376"/>
            <a:ext cx="3950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数据输入 3 方式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5800" y="241401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读项目文件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70662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指定 ./data/rc_data.csv 路径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85800" y="32369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粘贴关键数据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352958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批次统计表（样本/均值/CPK）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85800" y="405993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提供文件路径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435254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原始 + 处理后 + 配置文件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937760" y="1865376"/>
            <a:ext cx="3017520" cy="320040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37760" y="1865376"/>
            <a:ext cx="3017520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9" name="Text 17"/>
          <p:cNvSpPr/>
          <p:nvPr/>
        </p:nvSpPr>
        <p:spPr>
          <a:xfrm>
            <a:off x="5065776" y="1865376"/>
            <a:ext cx="27614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DOE 设计流程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212080" y="2368296"/>
            <a:ext cx="2468880" cy="402336"/>
          </a:xfrm>
          <a:prstGeom prst="roundRect">
            <a:avLst>
              <a:gd name="adj" fmla="val 11364"/>
            </a:avLst>
          </a:prstGeom>
          <a:solidFill>
            <a:srgbClr val="EAF0F6"/>
          </a:solidFill>
          <a:ln w="6350">
            <a:solidFill>
              <a:srgbClr val="DCE5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2368296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已有数据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37376" y="2770632"/>
            <a:ext cx="18288" cy="1645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23" name="Shape 21"/>
          <p:cNvSpPr/>
          <p:nvPr/>
        </p:nvSpPr>
        <p:spPr>
          <a:xfrm>
            <a:off x="5212080" y="2935224"/>
            <a:ext cx="2468880" cy="402336"/>
          </a:xfrm>
          <a:prstGeom prst="roundRect">
            <a:avLst>
              <a:gd name="adj" fmla="val 11364"/>
            </a:avLst>
          </a:prstGeom>
          <a:solidFill>
            <a:srgbClr val="EAF0F6"/>
          </a:solidFill>
          <a:ln w="6350">
            <a:solidFill>
              <a:srgbClr val="DCE5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2935224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数据分析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37376" y="3337560"/>
            <a:ext cx="18288" cy="1645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26" name="Shape 24"/>
          <p:cNvSpPr/>
          <p:nvPr/>
        </p:nvSpPr>
        <p:spPr>
          <a:xfrm>
            <a:off x="5212080" y="3502152"/>
            <a:ext cx="2468880" cy="402336"/>
          </a:xfrm>
          <a:prstGeom prst="roundRect">
            <a:avLst>
              <a:gd name="adj" fmla="val 11364"/>
            </a:avLst>
          </a:prstGeom>
          <a:solidFill>
            <a:srgbClr val="EAF0F6"/>
          </a:solidFill>
          <a:ln w="6350">
            <a:solidFill>
              <a:srgbClr val="DCE5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0" y="3502152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识别问题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37376" y="3904488"/>
            <a:ext cx="18288" cy="1645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29" name="Shape 27"/>
          <p:cNvSpPr/>
          <p:nvPr/>
        </p:nvSpPr>
        <p:spPr>
          <a:xfrm>
            <a:off x="5212080" y="4069080"/>
            <a:ext cx="2468880" cy="402336"/>
          </a:xfrm>
          <a:prstGeom prst="roundRect">
            <a:avLst>
              <a:gd name="adj" fmla="val 11364"/>
            </a:avLst>
          </a:prstGeom>
          <a:solidFill>
            <a:srgbClr val="12355B"/>
          </a:solidFill>
          <a:ln w="6350">
            <a:solidFill>
              <a:srgbClr val="DCE5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0" y="4069080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 DOE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183880" y="1865376"/>
            <a:ext cx="3504895" cy="320040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83880" y="1865376"/>
            <a:ext cx="3504895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33" name="Text 31"/>
          <p:cNvSpPr/>
          <p:nvPr/>
        </p:nvSpPr>
        <p:spPr>
          <a:xfrm>
            <a:off x="8311896" y="1865376"/>
            <a:ext cx="32488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示例：3 因子 2 水平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30184" y="2322576"/>
          <a:ext cx="3212287" cy="914400"/>
        </p:xfrm>
        <a:graphic>
          <a:graphicData uri="http://schemas.openxmlformats.org/drawingml/2006/table">
            <a:tbl>
              <a:tblPr/>
              <a:tblGrid>
                <a:gridCol w="2297887"/>
                <a:gridCol w="457200"/>
                <a:gridCol w="4572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因子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-1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+1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55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Overdrive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50μm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80μm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Clean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50次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100次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Soak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10ms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30ms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</a:tr>
            </a:tbl>
          </a:graphicData>
        </a:graphic>
      </p:graphicFrame>
      <p:sp>
        <p:nvSpPr>
          <p:cNvPr id="35" name="Text 32"/>
          <p:cNvSpPr/>
          <p:nvPr/>
        </p:nvSpPr>
        <p:spPr>
          <a:xfrm>
            <a:off x="8330184" y="4014216"/>
            <a:ext cx="3212287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目标：降接触电阻标准差，CPK 提升至 1.5 以上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502920" y="5449824"/>
            <a:ext cx="11185855" cy="749808"/>
          </a:xfrm>
          <a:prstGeom prst="rect">
            <a:avLst/>
          </a:prstGeom>
          <a:solidFill>
            <a:srgbClr val="EAF0F6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02920" y="5449824"/>
            <a:ext cx="64008" cy="749808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38" name="Text 35"/>
          <p:cNvSpPr/>
          <p:nvPr/>
        </p:nvSpPr>
        <p:spPr>
          <a:xfrm>
            <a:off x="722376" y="55229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 WHAT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722376" y="576072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把测试数据 + 失效机制喂给大模型 —— 直接产出可执行的实验矩阵，DOE 周期显著缩短。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来源：数据输入与实验设计（§7.1 / §7.2）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场景实战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技术难题没思路？让大模型做调研与头脑风暴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57200" cy="502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1790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高价值场景②：技术调研 + 头脑风暴，把经验型难题变可执行清单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865376"/>
            <a:ext cx="6035040" cy="320040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65376"/>
            <a:ext cx="6035040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" y="1865376"/>
            <a:ext cx="5779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场景：探针台针尖磨损导致虚焊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9224" y="2322576"/>
            <a:ext cx="5742432" cy="1371600"/>
          </a:xfrm>
          <a:prstGeom prst="rect">
            <a:avLst/>
          </a:prstGeom>
          <a:solidFill>
            <a:srgbClr val="1A2330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" y="2322576"/>
            <a:ext cx="54681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 探针台针尖磨损导致虚焊/测量不准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(False Contact Failure)。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请作为半导体测试专家，针对 3D 堆叠先进封装，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检索工业界解决 Micro-bump 探针损伤的主流方案，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列 5 个头脑风暴方向，对比利弊与引入成本，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给出推荐实施路径。（可用 web search）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9224" y="3785616"/>
            <a:ext cx="5742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关键要素：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9224" y="4041648"/>
            <a:ext cx="57424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明确失效机制（Micro-bump 探针损伤）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要求多方案对比（5 个方向）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要求决策维度（利弊 + 成本 + 推荐路径）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1865376"/>
            <a:ext cx="4876495" cy="320040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12280" y="1865376"/>
            <a:ext cx="4876495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7" name="Text 15"/>
          <p:cNvSpPr/>
          <p:nvPr/>
        </p:nvSpPr>
        <p:spPr>
          <a:xfrm>
            <a:off x="6940296" y="1865376"/>
            <a:ext cx="46204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预期产出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995160" y="2432304"/>
            <a:ext cx="329184" cy="329184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19" name="Text 17"/>
          <p:cNvSpPr/>
          <p:nvPr/>
        </p:nvSpPr>
        <p:spPr>
          <a:xfrm>
            <a:off x="6995160" y="24323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52360" y="2414016"/>
            <a:ext cx="4053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技术方案对比表（5 方向）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95160" y="2999232"/>
            <a:ext cx="329184" cy="329184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22" name="Text 20"/>
          <p:cNvSpPr/>
          <p:nvPr/>
        </p:nvSpPr>
        <p:spPr>
          <a:xfrm>
            <a:off x="6995160" y="29992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52360" y="2980944"/>
            <a:ext cx="4053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各方案利弊分析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95160" y="3566160"/>
            <a:ext cx="329184" cy="329184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25" name="Text 23"/>
          <p:cNvSpPr/>
          <p:nvPr/>
        </p:nvSpPr>
        <p:spPr>
          <a:xfrm>
            <a:off x="6995160" y="35661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452360" y="3547872"/>
            <a:ext cx="4053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引入成本评估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995160" y="4133088"/>
            <a:ext cx="329184" cy="329184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28" name="Text 26"/>
          <p:cNvSpPr/>
          <p:nvPr/>
        </p:nvSpPr>
        <p:spPr>
          <a:xfrm>
            <a:off x="6995160" y="41330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452360" y="4114800"/>
            <a:ext cx="4053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推荐实施路径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95160" y="4745736"/>
            <a:ext cx="45107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配合 web-search 获取最新行业资料。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02920" y="5449824"/>
            <a:ext cx="11185855" cy="749808"/>
          </a:xfrm>
          <a:prstGeom prst="rect">
            <a:avLst/>
          </a:prstGeom>
          <a:solidFill>
            <a:srgbClr val="EAF0F6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5449824"/>
            <a:ext cx="64008" cy="749808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33" name="Text 31"/>
          <p:cNvSpPr/>
          <p:nvPr/>
        </p:nvSpPr>
        <p:spPr>
          <a:xfrm>
            <a:off x="722376" y="55229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 WHAT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22376" y="576072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从"没思路"到"5 方向对比 + 推荐路径" —— 大模型把经验型难题快速拆成可决策的清单。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来源：高级业务场景（§9.1 / §4 Demo6）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场景实战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复杂系统一句话起步：Plan-Build 全流程示范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57200" cy="502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1790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高价值场景③：测试数据自动化分析平台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865376"/>
            <a:ext cx="6035040" cy="320040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65376"/>
            <a:ext cx="6035040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" y="1865376"/>
            <a:ext cx="5779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需求指令（进 Plan 模式）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9224" y="2322576"/>
            <a:ext cx="5742432" cy="1554480"/>
          </a:xfrm>
          <a:prstGeom prst="rect">
            <a:avLst/>
          </a:prstGeom>
          <a:solidFill>
            <a:srgbClr val="1A2330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" y="2322576"/>
            <a:ext cx="546811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 进入 Plan 模式，规划"测试数据自动化分析平台"：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1. 支持多种数据源（CSV / Excel / SQLite）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2. 自动生成可视化报告（CPK 趋势 / Yield 分布）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3. 支持历史数据对比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4. 异常数据自动报警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5. 输出 HTML 和 PDF 两种报告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先制定计划，确认后进入 Build 执行。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9224" y="4014216"/>
            <a:ext cx="5742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一句话讲清 5 项需求 → Plan 自动拆解。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12280" y="1865376"/>
            <a:ext cx="4876495" cy="320040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12280" y="1865376"/>
            <a:ext cx="4876495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6" name="Text 14"/>
          <p:cNvSpPr/>
          <p:nvPr/>
        </p:nvSpPr>
        <p:spPr>
          <a:xfrm>
            <a:off x="6940296" y="1865376"/>
            <a:ext cx="46204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Plan 产物 → Build 落地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976872" y="2322576"/>
            <a:ext cx="4547311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架构：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pandas + SQLAlchemy / matplotlib / HTML+PDF
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Phase 1 基础框架：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目录 / 数据加载 / 统计
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Phase 2 可视化：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CPK 趋势 / Yield 分布 / 异常标记
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Phase 3 报告：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HTML 模板 / PDF 导出 / 历史对比
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F6B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Build：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自动建目录、写代码、跑测试、出报告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5449824"/>
            <a:ext cx="11185855" cy="749808"/>
          </a:xfrm>
          <a:prstGeom prst="rect">
            <a:avLst/>
          </a:prstGeom>
          <a:solidFill>
            <a:srgbClr val="EAF0F6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5449824"/>
            <a:ext cx="64008" cy="749808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20" name="Text 18"/>
          <p:cNvSpPr/>
          <p:nvPr/>
        </p:nvSpPr>
        <p:spPr>
          <a:xfrm>
            <a:off x="722376" y="55229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 WHAT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22376" y="576072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复杂系统不必从零手敲 —— Plan 拆解 + Build 自动落地，把"周级"开发压缩到"天级"。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来源：高级业务场景（§9.2 / §4.2）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场景实战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把经验沉淀成手册：排查手册 / SOP / 培训材料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57200" cy="502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1790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高价值场景④：知识沉淀与团队分享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865376"/>
            <a:ext cx="6035040" cy="320040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65376"/>
            <a:ext cx="6035040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" y="1865376"/>
            <a:ext cx="5779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场景：整理探针台常见报错排查手册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9224" y="2322576"/>
            <a:ext cx="5742432" cy="1371600"/>
          </a:xfrm>
          <a:prstGeom prst="rect">
            <a:avLst/>
          </a:prstGeom>
          <a:solidFill>
            <a:srgbClr val="1A2330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" y="2322576"/>
            <a:ext cx="54681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 帮我整理一份"探针台常见报错排查手册"：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1. 列出最常见的 10 种报错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2. 每种报错的原因分析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3. 排查步骤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4. 解决方案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5. 预防措施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用 Markdown，含代码示例与流程图，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基于项目历史 Log 文件整理。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9224" y="3831336"/>
            <a:ext cx="5742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价值：把散落在个人脑中的经验，变成团队可查的文档。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12280" y="1865376"/>
            <a:ext cx="4876495" cy="320040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12280" y="1865376"/>
            <a:ext cx="4876495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6" name="Text 14"/>
          <p:cNvSpPr/>
          <p:nvPr/>
        </p:nvSpPr>
        <p:spPr>
          <a:xfrm>
            <a:off x="6940296" y="1865376"/>
            <a:ext cx="46204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可沉淀的知识产物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958584" y="2368296"/>
            <a:ext cx="1554480" cy="420624"/>
          </a:xfrm>
          <a:prstGeom prst="roundRect">
            <a:avLst>
              <a:gd name="adj" fmla="val 10870"/>
            </a:avLst>
          </a:prstGeom>
          <a:solidFill>
            <a:srgbClr val="12355B"/>
          </a:solidFill>
          <a:ln/>
        </p:spPr>
      </p:sp>
      <p:sp>
        <p:nvSpPr>
          <p:cNvPr id="18" name="Text 16"/>
          <p:cNvSpPr/>
          <p:nvPr/>
        </p:nvSpPr>
        <p:spPr>
          <a:xfrm>
            <a:off x="6958584" y="2368296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排查手册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595360" y="2368296"/>
            <a:ext cx="295625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常见报错的原因/步骤/解决/预防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958584" y="2935224"/>
            <a:ext cx="1554480" cy="420624"/>
          </a:xfrm>
          <a:prstGeom prst="roundRect">
            <a:avLst>
              <a:gd name="adj" fmla="val 10870"/>
            </a:avLst>
          </a:prstGeom>
          <a:solidFill>
            <a:srgbClr val="12355B"/>
          </a:solidFill>
          <a:ln/>
        </p:spPr>
      </p:sp>
      <p:sp>
        <p:nvSpPr>
          <p:cNvPr id="21" name="Text 19"/>
          <p:cNvSpPr/>
          <p:nvPr/>
        </p:nvSpPr>
        <p:spPr>
          <a:xfrm>
            <a:off x="6958584" y="2935224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测试 SOP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595360" y="2935224"/>
            <a:ext cx="295625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机台操作与测试 Flow 标准化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958584" y="3502152"/>
            <a:ext cx="1554480" cy="420624"/>
          </a:xfrm>
          <a:prstGeom prst="roundRect">
            <a:avLst>
              <a:gd name="adj" fmla="val 10870"/>
            </a:avLst>
          </a:prstGeom>
          <a:solidFill>
            <a:srgbClr val="12355B"/>
          </a:solidFill>
          <a:ln/>
        </p:spPr>
      </p:sp>
      <p:sp>
        <p:nvSpPr>
          <p:cNvPr id="24" name="Text 22"/>
          <p:cNvSpPr/>
          <p:nvPr/>
        </p:nvSpPr>
        <p:spPr>
          <a:xfrm>
            <a:off x="6958584" y="3502152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培训材料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595360" y="3502152"/>
            <a:ext cx="295625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新人上手 PPT / 文档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958584" y="4069080"/>
            <a:ext cx="1554480" cy="420624"/>
          </a:xfrm>
          <a:prstGeom prst="roundRect">
            <a:avLst>
              <a:gd name="adj" fmla="val 10870"/>
            </a:avLst>
          </a:prstGeom>
          <a:solidFill>
            <a:srgbClr val="12355B"/>
          </a:solidFill>
          <a:ln/>
        </p:spPr>
      </p:sp>
      <p:sp>
        <p:nvSpPr>
          <p:cNvPr id="27" name="Text 25"/>
          <p:cNvSpPr/>
          <p:nvPr/>
        </p:nvSpPr>
        <p:spPr>
          <a:xfrm>
            <a:off x="6958584" y="4069080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脚本库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595360" y="4069080"/>
            <a:ext cx="295625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可复用的自动化脚本集合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958584" y="4745736"/>
            <a:ext cx="458388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i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沉淀即资产 —— 人走了知识留下。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502920" y="5449824"/>
            <a:ext cx="11185855" cy="749808"/>
          </a:xfrm>
          <a:prstGeom prst="rect">
            <a:avLst/>
          </a:prstGeom>
          <a:solidFill>
            <a:srgbClr val="EAF0F6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5449824"/>
            <a:ext cx="64008" cy="749808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32" name="Text 30"/>
          <p:cNvSpPr/>
          <p:nvPr/>
        </p:nvSpPr>
        <p:spPr>
          <a:xfrm>
            <a:off x="722376" y="55229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 WHAT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22376" y="576072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把"个人经验"沉淀为"团队资产" —— 排查手册、SOP、脚本库让新人快速接班，团队不再依赖单点。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来源：高级业务场景（§9.3）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提效与规范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Auto-Approve + 会话复用，把重复操作清零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57200" cy="502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1790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提效不等于省钱 —— 让团队把时间花在判断，而非点确认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865376"/>
            <a:ext cx="5455768" cy="320040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65376"/>
            <a:ext cx="5455768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" y="1865376"/>
            <a:ext cx="5199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Auto-Approve · 自动执行</a:t>
            </a:r>
            <a:endParaRPr lang="en-US" sz="12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" y="2322576"/>
          <a:ext cx="5163160" cy="914400"/>
        </p:xfrm>
        <a:graphic>
          <a:graphicData uri="http://schemas.openxmlformats.org/drawingml/2006/table">
            <a:tbl>
              <a:tblPr/>
              <a:tblGrid>
                <a:gridCol w="3700120"/>
                <a:gridCol w="14630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环境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权限建议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2355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个人本地项目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Auto-Approve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共享代码库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默认确认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产线相关系统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严格确认</a:t>
                      </a:r>
                      <a:endParaRPr lang="en-US" sz="10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CFBF5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49224" y="4014216"/>
            <a:ext cx="5163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B5651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⚠ 红线：产线数据库删除、线上配置修改严禁全局免确认。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49224" y="4608576"/>
            <a:ext cx="516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完成任务后及时关闭 Auto-Approve。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6233008" y="1865376"/>
            <a:ext cx="5455768" cy="320040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33008" y="1865376"/>
            <a:ext cx="5455768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6" name="Text 13"/>
          <p:cNvSpPr/>
          <p:nvPr/>
        </p:nvSpPr>
        <p:spPr>
          <a:xfrm>
            <a:off x="6361024" y="1865376"/>
            <a:ext cx="5199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会话复用三招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15888" y="2441448"/>
            <a:ext cx="365760" cy="365760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18" name="Text 15"/>
          <p:cNvSpPr/>
          <p:nvPr/>
        </p:nvSpPr>
        <p:spPr>
          <a:xfrm>
            <a:off x="6415888" y="24414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909664" y="2414016"/>
            <a:ext cx="4632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保存常用对话模板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909664" y="2724912"/>
            <a:ext cx="463280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高频指令模板化，下次直接复用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415888" y="3218688"/>
            <a:ext cx="365760" cy="365760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22" name="Text 19"/>
          <p:cNvSpPr/>
          <p:nvPr/>
        </p:nvSpPr>
        <p:spPr>
          <a:xfrm>
            <a:off x="6415888" y="32186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909664" y="3191256"/>
            <a:ext cx="4632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利用会话历史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909664" y="3502152"/>
            <a:ext cx="463280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同一会话延续讨论，不重复输入上下文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6415888" y="3995928"/>
            <a:ext cx="365760" cy="365760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26" name="Text 23"/>
          <p:cNvSpPr/>
          <p:nvPr/>
        </p:nvSpPr>
        <p:spPr>
          <a:xfrm>
            <a:off x="6415888" y="3995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909664" y="3968496"/>
            <a:ext cx="4632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及时结束无用会话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909664" y="4279392"/>
            <a:ext cx="463280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方向错误果断重启，避免越聊越偏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502920" y="5449824"/>
            <a:ext cx="11185855" cy="749808"/>
          </a:xfrm>
          <a:prstGeom prst="rect">
            <a:avLst/>
          </a:prstGeom>
          <a:solidFill>
            <a:srgbClr val="EAF0F6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02920" y="5449824"/>
            <a:ext cx="64008" cy="749808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31" name="Text 28"/>
          <p:cNvSpPr/>
          <p:nvPr/>
        </p:nvSpPr>
        <p:spPr>
          <a:xfrm>
            <a:off x="722376" y="55229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 WHAT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722376" y="576072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个人环境放开提效、产线严守确认；会话模板化让团队的"重复输入"清零，专注判断与决策。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34" name="Text 31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来源：权限配置 / 会话管理（§8 / §2.4）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团队规范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统一配置 + 模板库 + 审查，拉齐团队水平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57200" cy="502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1790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解决"团队成员水平不一致"—— 把个人最佳实践变成团队标准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975104"/>
            <a:ext cx="5387188" cy="1417320"/>
          </a:xfrm>
          <a:prstGeom prst="roundRect">
            <a:avLst>
              <a:gd name="adj" fmla="val 3871"/>
            </a:avLst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7512" y="2157984"/>
            <a:ext cx="457200" cy="457200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" y="21579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52728" y="2157984"/>
            <a:ext cx="44727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统一部门级 AGENTS.md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2752344"/>
            <a:ext cx="502142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全员共用一份术语与角色背景，输出一致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18708" y="1975104"/>
            <a:ext cx="5387188" cy="1417320"/>
          </a:xfrm>
          <a:prstGeom prst="roundRect">
            <a:avLst>
              <a:gd name="adj" fmla="val 3871"/>
            </a:avLst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83300" y="2157984"/>
            <a:ext cx="457200" cy="457200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15" name="Text 13"/>
          <p:cNvSpPr/>
          <p:nvPr/>
        </p:nvSpPr>
        <p:spPr>
          <a:xfrm>
            <a:off x="6283300" y="21579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68516" y="2157984"/>
            <a:ext cx="44727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共享 Prompt 模板库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1588" y="2752344"/>
            <a:ext cx="502142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把高频任务的五段式模板沉淀进知识库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621024"/>
            <a:ext cx="5387188" cy="1417320"/>
          </a:xfrm>
          <a:prstGeom prst="roundRect">
            <a:avLst>
              <a:gd name="adj" fmla="val 3871"/>
            </a:avLst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7512" y="3803904"/>
            <a:ext cx="457200" cy="457200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" y="3803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52728" y="3803904"/>
            <a:ext cx="44727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定期经验分享会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4398264"/>
            <a:ext cx="502142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复盘好用案例与踩坑，扩散给全团队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18708" y="3621024"/>
            <a:ext cx="5387188" cy="1417320"/>
          </a:xfrm>
          <a:prstGeom prst="roundRect">
            <a:avLst>
              <a:gd name="adj" fmla="val 3871"/>
            </a:avLst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3300" y="3803904"/>
            <a:ext cx="457200" cy="457200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25" name="Text 23"/>
          <p:cNvSpPr/>
          <p:nvPr/>
        </p:nvSpPr>
        <p:spPr>
          <a:xfrm>
            <a:off x="6283300" y="3803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68516" y="3803904"/>
            <a:ext cx="44727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代码审查机制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1588" y="4398264"/>
            <a:ext cx="502142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生成代码也要走 review，守住质量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" y="5449824"/>
            <a:ext cx="11185855" cy="749808"/>
          </a:xfrm>
          <a:prstGeom prst="rect">
            <a:avLst/>
          </a:prstGeom>
          <a:solidFill>
            <a:srgbClr val="EAF0F6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5449824"/>
            <a:ext cx="64008" cy="749808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30" name="Text 28"/>
          <p:cNvSpPr/>
          <p:nvPr/>
        </p:nvSpPr>
        <p:spPr>
          <a:xfrm>
            <a:off x="722376" y="55229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 WHAT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22376" y="576072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规范不是限制，而是放大器 —— 一套统一配置 + 模板库，让新人的起点就是团队的最高水平。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来源：团队水平拉齐（§11 Q4）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团队落地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 阶段推进，从基础建设到持续优化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57200" cy="502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1790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渐进式落地 —— 先基建、再培训、后深用、持续迭代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956816"/>
            <a:ext cx="2659304" cy="3108960"/>
          </a:xfrm>
          <a:prstGeom prst="roundRect">
            <a:avLst>
              <a:gd name="adj" fmla="val 1719"/>
            </a:avLst>
          </a:prstGeom>
          <a:solidFill>
            <a:srgbClr val="FCFBF5"/>
          </a:solidFill>
          <a:ln w="15875">
            <a:solidFill>
              <a:srgbClr val="1235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956816"/>
            <a:ext cx="2659304" cy="54864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" y="2084832"/>
            <a:ext cx="23666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Phase 1 · 基础建设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9224" y="2432304"/>
            <a:ext cx="2366696" cy="27432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/>
        </p:spPr>
      </p:sp>
      <p:sp>
        <p:nvSpPr>
          <p:cNvPr id="12" name="Text 10"/>
          <p:cNvSpPr/>
          <p:nvPr/>
        </p:nvSpPr>
        <p:spPr>
          <a:xfrm>
            <a:off x="722376" y="2432304"/>
            <a:ext cx="2220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1-2 周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9224" y="2871216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13816" y="2871216"/>
            <a:ext cx="2202104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全员申请 CIMICode 权限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49224" y="3346704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13816" y="3346704"/>
            <a:ext cx="2202104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安装桌面版 + 终端版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9224" y="382219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13816" y="3822192"/>
            <a:ext cx="2202104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统一配置部门级 AGENTS.md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49224" y="42976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13816" y="4297680"/>
            <a:ext cx="2202104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安装基础 Skill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 rot="5400000">
            <a:off x="3189656" y="3419856"/>
            <a:ext cx="128016" cy="201168"/>
          </a:xfrm>
          <a:prstGeom prst="rightTriangle">
            <a:avLst/>
          </a:prstGeom>
          <a:solidFill>
            <a:srgbClr val="12355B"/>
          </a:solidFill>
          <a:ln/>
        </p:spPr>
      </p:sp>
      <p:sp>
        <p:nvSpPr>
          <p:cNvPr id="22" name="Shape 20"/>
          <p:cNvSpPr/>
          <p:nvPr/>
        </p:nvSpPr>
        <p:spPr>
          <a:xfrm>
            <a:off x="3345104" y="1956816"/>
            <a:ext cx="2659304" cy="3108960"/>
          </a:xfrm>
          <a:prstGeom prst="roundRect">
            <a:avLst>
              <a:gd name="adj" fmla="val 1719"/>
            </a:avLst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45104" y="1956816"/>
            <a:ext cx="2659304" cy="54864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24" name="Text 22"/>
          <p:cNvSpPr/>
          <p:nvPr/>
        </p:nvSpPr>
        <p:spPr>
          <a:xfrm>
            <a:off x="3491408" y="2084832"/>
            <a:ext cx="23666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Phase 2 · 技能培训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91408" y="2432304"/>
            <a:ext cx="2366696" cy="27432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/>
        </p:spPr>
      </p:sp>
      <p:sp>
        <p:nvSpPr>
          <p:cNvPr id="26" name="Text 24"/>
          <p:cNvSpPr/>
          <p:nvPr/>
        </p:nvSpPr>
        <p:spPr>
          <a:xfrm>
            <a:off x="3564560" y="2432304"/>
            <a:ext cx="2220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3-4 周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491408" y="2871216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6000" y="2871216"/>
            <a:ext cx="2202104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组织 CIMICode 使用培训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491408" y="3346704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6000" y="3346704"/>
            <a:ext cx="2202104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分享最佳实践与案例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491408" y="382219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6000" y="3822192"/>
            <a:ext cx="2202104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建立问题反馈机制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491408" y="42976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6000" y="4297680"/>
            <a:ext cx="2202104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制定使用规范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 rot="5400000">
            <a:off x="6031840" y="3419856"/>
            <a:ext cx="128016" cy="201168"/>
          </a:xfrm>
          <a:prstGeom prst="rightTriangle">
            <a:avLst/>
          </a:prstGeom>
          <a:solidFill>
            <a:srgbClr val="12355B"/>
          </a:solidFill>
          <a:ln/>
        </p:spPr>
      </p:sp>
      <p:sp>
        <p:nvSpPr>
          <p:cNvPr id="36" name="Shape 34"/>
          <p:cNvSpPr/>
          <p:nvPr/>
        </p:nvSpPr>
        <p:spPr>
          <a:xfrm>
            <a:off x="6187288" y="1956816"/>
            <a:ext cx="2659304" cy="3108960"/>
          </a:xfrm>
          <a:prstGeom prst="roundRect">
            <a:avLst>
              <a:gd name="adj" fmla="val 1719"/>
            </a:avLst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87288" y="1956816"/>
            <a:ext cx="2659304" cy="54864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38" name="Text 36"/>
          <p:cNvSpPr/>
          <p:nvPr/>
        </p:nvSpPr>
        <p:spPr>
          <a:xfrm>
            <a:off x="6333592" y="2084832"/>
            <a:ext cx="23666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Phase 3 · 深度应用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333592" y="2432304"/>
            <a:ext cx="2366696" cy="27432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/>
        </p:spPr>
      </p:sp>
      <p:sp>
        <p:nvSpPr>
          <p:cNvPr id="40" name="Text 38"/>
          <p:cNvSpPr/>
          <p:nvPr/>
        </p:nvSpPr>
        <p:spPr>
          <a:xfrm>
            <a:off x="6406744" y="2432304"/>
            <a:ext cx="2220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5-8 周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333592" y="2871216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98184" y="2871216"/>
            <a:ext cx="2202104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推广 Plan-Build 工作流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333592" y="3346704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98184" y="3346704"/>
            <a:ext cx="2202104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建立自动化脚本库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333592" y="382219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498184" y="3822192"/>
            <a:ext cx="2202104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沉淀技术文档与 SOP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333592" y="42976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498184" y="4297680"/>
            <a:ext cx="2202104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推广高价值场景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 rot="5400000">
            <a:off x="8874023" y="3419856"/>
            <a:ext cx="128016" cy="201168"/>
          </a:xfrm>
          <a:prstGeom prst="rightTriangle">
            <a:avLst/>
          </a:prstGeom>
          <a:solidFill>
            <a:srgbClr val="12355B"/>
          </a:solidFill>
          <a:ln/>
        </p:spPr>
      </p:sp>
      <p:sp>
        <p:nvSpPr>
          <p:cNvPr id="50" name="Shape 48"/>
          <p:cNvSpPr/>
          <p:nvPr/>
        </p:nvSpPr>
        <p:spPr>
          <a:xfrm>
            <a:off x="9029471" y="1956816"/>
            <a:ext cx="2659304" cy="3108960"/>
          </a:xfrm>
          <a:prstGeom prst="roundRect">
            <a:avLst>
              <a:gd name="adj" fmla="val 1719"/>
            </a:avLst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029471" y="1956816"/>
            <a:ext cx="2659304" cy="54864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52" name="Text 50"/>
          <p:cNvSpPr/>
          <p:nvPr/>
        </p:nvSpPr>
        <p:spPr>
          <a:xfrm>
            <a:off x="9175775" y="2084832"/>
            <a:ext cx="23666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Phase 4 · 持续优化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9175775" y="2432304"/>
            <a:ext cx="2366696" cy="27432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/>
        </p:spPr>
      </p:sp>
      <p:sp>
        <p:nvSpPr>
          <p:cNvPr id="54" name="Text 52"/>
          <p:cNvSpPr/>
          <p:nvPr/>
        </p:nvSpPr>
        <p:spPr>
          <a:xfrm>
            <a:off x="9248927" y="2432304"/>
            <a:ext cx="2220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长期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9175775" y="2871216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9340367" y="2871216"/>
            <a:ext cx="2202104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定期复盘使用效果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9175775" y="3346704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9340367" y="3346704"/>
            <a:ext cx="2202104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优化 AGENTS.md 配置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9175775" y="382219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9340367" y="3822192"/>
            <a:ext cx="2202104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扩展 Skill 应用场景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9175775" y="42976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9340367" y="4297680"/>
            <a:ext cx="2202104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分享最佳实践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502920" y="5449824"/>
            <a:ext cx="11185855" cy="749808"/>
          </a:xfrm>
          <a:prstGeom prst="rect">
            <a:avLst/>
          </a:prstGeom>
          <a:solidFill>
            <a:srgbClr val="EAF0F6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02920" y="5449824"/>
            <a:ext cx="64008" cy="749808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65" name="Text 63"/>
          <p:cNvSpPr/>
          <p:nvPr/>
        </p:nvSpPr>
        <p:spPr>
          <a:xfrm>
            <a:off x="722376" y="55229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 WHAT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722376" y="576072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 阶段渐进 —— 先把基建和规范立起来，再推深度场景，避免一哄而上导致水平参差。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68" name="Text 66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来源：团队落地路线图（§10.1）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团队落地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怎么看团队真的"用好"了？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57200" cy="502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1790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用可观察的采用与质量信号衡量，而非抽象指标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002536"/>
            <a:ext cx="3576218" cy="1325880"/>
          </a:xfrm>
          <a:prstGeom prst="roundRect">
            <a:avLst>
              <a:gd name="adj" fmla="val 4138"/>
            </a:avLst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" y="21305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61288" y="2130552"/>
            <a:ext cx="27898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Plan-Build 采用率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7512" y="2569464"/>
            <a:ext cx="324703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复杂任务是否普遍先 Plan 再 Build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80306" y="2002536"/>
            <a:ext cx="3576218" cy="1325880"/>
          </a:xfrm>
          <a:prstGeom prst="roundRect">
            <a:avLst>
              <a:gd name="adj" fmla="val 4138"/>
            </a:avLst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26610" y="21305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38674" y="2130552"/>
            <a:ext cx="27898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脚本/模板复用数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44898" y="2569464"/>
            <a:ext cx="324703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共享库里沉淀了多少可复用资产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57693" y="2002536"/>
            <a:ext cx="3576218" cy="1325880"/>
          </a:xfrm>
          <a:prstGeom prst="roundRect">
            <a:avLst>
              <a:gd name="adj" fmla="val 4138"/>
            </a:avLst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03997" y="21305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716061" y="2130552"/>
            <a:ext cx="27898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AGENTS.md 配置完整度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2285" y="2569464"/>
            <a:ext cx="324703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部门级 + 项目级是否到位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529584"/>
            <a:ext cx="3576218" cy="1325880"/>
          </a:xfrm>
          <a:prstGeom prst="roundRect">
            <a:avLst>
              <a:gd name="adj" fmla="val 4138"/>
            </a:avLst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" y="3657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④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61288" y="3657600"/>
            <a:ext cx="27898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新人独立上手速度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7512" y="4096512"/>
            <a:ext cx="324703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从入职到完成首个任务的时间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80306" y="3529584"/>
            <a:ext cx="3576218" cy="1325880"/>
          </a:xfrm>
          <a:prstGeom prst="roundRect">
            <a:avLst>
              <a:gd name="adj" fmla="val 4138"/>
            </a:avLst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26610" y="3657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⑤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938674" y="3657600"/>
            <a:ext cx="27898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知识沉淀量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444898" y="4096512"/>
            <a:ext cx="324703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SOP / 手册 / 培训材料的产出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057693" y="3529584"/>
            <a:ext cx="3576218" cy="1325880"/>
          </a:xfrm>
          <a:prstGeom prst="roundRect">
            <a:avLst>
              <a:gd name="adj" fmla="val 4138"/>
            </a:avLst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03997" y="3657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⑥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716061" y="3657600"/>
            <a:ext cx="27898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问题复现率下降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2285" y="4096512"/>
            <a:ext cx="324703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同类报错是否靠手册自助解决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5175504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这些信号都可观察、可统计 —— 用它们判断团队是否在进步，比抽象百分比更可靠。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2920" y="5449824"/>
            <a:ext cx="11185855" cy="749808"/>
          </a:xfrm>
          <a:prstGeom prst="rect">
            <a:avLst/>
          </a:prstGeom>
          <a:solidFill>
            <a:srgbClr val="EAF0F6"/>
          </a:solidFill>
          <a:ln w="9525">
            <a:solidFill>
              <a:srgbClr val="DCE5E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" y="5449824"/>
            <a:ext cx="64008" cy="749808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35" name="Text 33"/>
          <p:cNvSpPr/>
          <p:nvPr/>
        </p:nvSpPr>
        <p:spPr>
          <a:xfrm>
            <a:off x="722376" y="55229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 WHAT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22376" y="576072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不追求好看的数字，而看真实的采用与沉淀 —— 信号持续向好，就是团队"用好"的证据。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来源：效果评估（§10.3）重组为可观察信号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365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收束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91495" y="365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五板斧 + 4 阶段，让全团队用好大模型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457200" cy="50292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1790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从"会聊"到"用好"，关键是配置规范 + 方法论 + 团队落地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865376"/>
            <a:ext cx="6583680" cy="2194560"/>
          </a:xfrm>
          <a:prstGeom prst="rect">
            <a:avLst/>
          </a:prstGeom>
          <a:solidFill>
            <a:srgbClr val="FCFBF5"/>
          </a:solidFill>
          <a:ln w="9525">
            <a:solidFill>
              <a:srgbClr val="C9CD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65376"/>
            <a:ext cx="6583680" cy="329184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" y="1865376"/>
            <a:ext cx="6327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五板斧回顾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" y="2432304"/>
            <a:ext cx="329184" cy="329184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4323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2414016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选对模型 · 配好 AGENTS.md · 写好 Prompt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" y="2935224"/>
            <a:ext cx="329184" cy="329184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935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2916936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用对 Plan-Build 工作流 · 用对 Skill 工具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" y="3438144"/>
            <a:ext cx="329184" cy="329184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4381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3000" y="3419856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团队规范：统一配置 + 模板库 + 审查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60920" y="1865376"/>
            <a:ext cx="4327855" cy="502920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21" name="Text 19"/>
          <p:cNvSpPr/>
          <p:nvPr/>
        </p:nvSpPr>
        <p:spPr>
          <a:xfrm>
            <a:off x="7507224" y="1865376"/>
            <a:ext cx="40535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立即行动：启动 Phase 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507224" y="2505456"/>
            <a:ext cx="4035247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本周统一部门级 AGENTS.md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下周完成全员 Skill 安装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0303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第 4 周分享首批最佳实践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4242816"/>
            <a:ext cx="11185855" cy="457200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" y="4242816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基础入门 → PPT1《公司大模型工具使用入门》　|　进阶用好 → 本课 PPT2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4791456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F72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两份配套：PPT1 教"开通与上手"，PPT2 教"用好与团队落地"。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6217920"/>
            <a:ext cx="11185855" cy="10973"/>
          </a:xfrm>
          <a:prstGeom prst="rect">
            <a:avLst/>
          </a:prstGeom>
          <a:solidFill>
            <a:srgbClr val="E2E3DD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6236208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来源：全篇收束 · 团队落地路线图（§10）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0591495" y="62362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A0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CIMICode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用好大模型：CIMICode 进阶应用与团队落地</dc:title>
  <dc:subject>PptxGenJS Presentation</dc:subject>
  <dc:creator>CIMICode TD Testing</dc:creator>
  <cp:lastModifiedBy>CIMICode TD Testing</cp:lastModifiedBy>
  <cp:revision>1</cp:revision>
  <dcterms:created xsi:type="dcterms:W3CDTF">2026-07-26T04:50:24Z</dcterms:created>
  <dcterms:modified xsi:type="dcterms:W3CDTF">2026-07-26T04:50:24Z</dcterms:modified>
</cp:coreProperties>
</file>